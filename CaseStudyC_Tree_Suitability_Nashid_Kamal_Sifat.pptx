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0" r:id="rId1"/>
  </p:sldMasterIdLst>
  <p:notesMasterIdLst>
    <p:notesMasterId r:id="rId12"/>
  </p:notesMasterIdLst>
  <p:sldIdLst>
    <p:sldId id="256" r:id="rId2"/>
    <p:sldId id="257" r:id="rId3"/>
    <p:sldId id="258" r:id="rId4"/>
    <p:sldId id="259" r:id="rId5"/>
    <p:sldId id="260" r:id="rId6"/>
    <p:sldId id="261" r:id="rId7"/>
    <p:sldId id="265" r:id="rId8"/>
    <p:sldId id="264" r:id="rId9"/>
    <p:sldId id="262" r:id="rId10"/>
    <p:sldId id="263" r:id="rId11"/>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5F2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0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 national area suitable</c:v>
                </c:pt>
              </c:strCache>
            </c:strRef>
          </c:tx>
          <c:spPr>
            <a:solidFill>
              <a:srgbClr val="2C5F2D"/>
            </a:solidFill>
            <a:effectLst/>
          </c:spPr>
          <c:invertIfNegative val="0"/>
          <c:dLbls>
            <c:dLbl>
              <c:idx val="1"/>
              <c:layout>
                <c:manualLayout>
                  <c:x val="0"/>
                  <c:y val="-2.659574468085107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79D-464E-9B25-2BE7E7C1D09E}"/>
                </c:ext>
              </c:extLst>
            </c:dLbl>
            <c:numFmt formatCode="0.00&quot;%&quot;" sourceLinked="0"/>
            <c:spPr>
              <a:noFill/>
              <a:ln>
                <a:noFill/>
              </a:ln>
              <a:effectLst/>
            </c:spPr>
            <c:txPr>
              <a:bodyPr/>
              <a:lstStyle/>
              <a:p>
                <a:pPr>
                  <a:defRPr sz="1200" b="0" i="0" u="none" strike="noStrike">
                    <a:solidFill>
                      <a:srgbClr val="333333"/>
                    </a:solidFill>
                    <a:latin typeface="Arial"/>
                  </a:defRPr>
                </a:pPr>
                <a:endParaRPr lang="en-N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Portugal</c:v>
                </c:pt>
                <c:pt idx="1">
                  <c:v>Peru</c:v>
                </c:pt>
                <c:pt idx="2">
                  <c:v>Vietnam</c:v>
                </c:pt>
                <c:pt idx="3">
                  <c:v>Tanzania</c:v>
                </c:pt>
              </c:strCache>
            </c:strRef>
          </c:cat>
          <c:val>
            <c:numRef>
              <c:f>Sheet1!$B$2:$B$5</c:f>
              <c:numCache>
                <c:formatCode>General</c:formatCode>
                <c:ptCount val="4"/>
                <c:pt idx="0">
                  <c:v>0</c:v>
                </c:pt>
                <c:pt idx="1">
                  <c:v>38.31</c:v>
                </c:pt>
                <c:pt idx="2">
                  <c:v>0.28999999999999998</c:v>
                </c:pt>
                <c:pt idx="3">
                  <c:v>0.08</c:v>
                </c:pt>
              </c:numCache>
            </c:numRef>
          </c:val>
          <c:extLst>
            <c:ext xmlns:c16="http://schemas.microsoft.com/office/drawing/2014/chart" uri="{C3380CC4-5D6E-409C-BE32-E72D297353CC}">
              <c16:uniqueId val="{00000000-579D-464E-9B25-2BE7E7C1D09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333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5E0"/>
              </a:solidFill>
              <a:prstDash val="solid"/>
              <a:round/>
            </a:ln>
          </c:spPr>
        </c:majorGridlines>
        <c:title>
          <c:tx>
            <c:rich>
              <a:bodyPr/>
              <a:lstStyle/>
              <a:p>
                <a:pPr>
                  <a:defRPr sz="1100" b="0" i="0" u="none" strike="noStrike">
                    <a:solidFill>
                      <a:srgbClr val="6B6B6B"/>
                    </a:solidFill>
                    <a:latin typeface="Arial"/>
                  </a:defRPr>
                </a:pPr>
                <a:r>
                  <a:rPr lang="en-US" sz="1600" b="0" i="0" u="none" strike="noStrike" dirty="0">
                    <a:solidFill>
                      <a:srgbClr val="6B6B6B"/>
                    </a:solidFill>
                    <a:latin typeface="Arial"/>
                  </a:rPr>
                  <a:t>% area suitable</a:t>
                </a:r>
              </a:p>
            </c:rich>
          </c:tx>
          <c:layout>
            <c:manualLayout>
              <c:xMode val="edge"/>
              <c:yMode val="edge"/>
              <c:x val="9.1374269005847948E-3"/>
              <c:y val="0.29838447720630668"/>
            </c:manualLayout>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7581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7E71F-8268-D6C6-112B-01FAF19092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B31379-F85C-B30A-B43C-197D01247D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4EE37E-6404-E087-9B07-7FC1F10EA4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D9E642-055A-6D34-F99C-59BD24D7B204}"/>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3336103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79867CD-CD09-0EEC-D165-96584688B982}"/>
              </a:ext>
            </a:extLst>
          </p:cNvPr>
          <p:cNvSpPr>
            <a:spLocks noGrp="1"/>
          </p:cNvSpPr>
          <p:nvPr>
            <p:ph type="title"/>
          </p:nvPr>
        </p:nvSpPr>
        <p:spPr>
          <a:xfrm>
            <a:off x="82296" y="64007"/>
            <a:ext cx="12015216" cy="5120639"/>
          </a:xfrm>
        </p:spPr>
        <p:txBody>
          <a:bodyPr>
            <a:normAutofit/>
          </a:bodyPr>
          <a:lstStyle>
            <a:lvl1pPr>
              <a:defRPr sz="11000" cap="all"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5360878"/>
            <a:ext cx="10037064" cy="566928"/>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3C1F8589-B640-4540-D0AD-2B0461CD340F}"/>
              </a:ext>
              <a:ext uri="{C183D7F6-B498-43B3-948B-1728B52AA6E4}">
                <adec:decorative xmlns:adec="http://schemas.microsoft.com/office/drawing/2017/decorative" val="1"/>
              </a:ext>
            </a:extLst>
          </p:cNvPr>
          <p:cNvCxnSpPr>
            <a:cxnSpLocks/>
          </p:cNvCxnSpPr>
          <p:nvPr/>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9752608"/>
      </p:ext>
    </p:extLst>
  </p:cSld>
  <p:clrMapOvr>
    <a:masterClrMapping/>
  </p:clrMapOvr>
  <p:hf sldNum="0" hdr="0" ft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a:xfrm>
            <a:off x="1088136" y="1090246"/>
            <a:ext cx="10840626" cy="79051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a:xfrm>
            <a:off x="1088135" y="1880756"/>
            <a:ext cx="10840627" cy="4558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FD144482-F463-E942-01AE-69DF54F4171C}"/>
              </a:ext>
              <a:ext uri="{C183D7F6-B498-43B3-948B-1728B52AA6E4}">
                <adec:decorative xmlns:adec="http://schemas.microsoft.com/office/drawing/2017/decorative" val="1"/>
              </a:ext>
            </a:extLst>
          </p:cNvPr>
          <p:cNvCxnSpPr>
            <a:cxnSpLocks/>
          </p:cNvCxnSpPr>
          <p:nvPr/>
        </p:nvCxnSpPr>
        <p:spPr>
          <a:xfrm>
            <a:off x="0" y="120586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894871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7847" y="4676177"/>
            <a:ext cx="10835639" cy="1319510"/>
          </a:xfrm>
        </p:spPr>
        <p:txBody>
          <a:bodyPr vert="horz" lIns="91440" tIns="45720" rIns="91440" bIns="45720" rtlCol="0" anchor="b">
            <a:noAutofit/>
          </a:bodyPr>
          <a:lstStyle>
            <a:lvl1pPr>
              <a:defRPr lang="en-US" sz="5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87847" y="6065134"/>
            <a:ext cx="10835639" cy="373766"/>
          </a:xfrm>
        </p:spPr>
        <p:txBody>
          <a:bodyPr vert="horz" lIns="91440" tIns="45720" rIns="91440" bIns="45720" rtlCol="0" anchor="b">
            <a:noAutofit/>
          </a:bodyPr>
          <a:lstStyle>
            <a:lvl1pPr marL="0" indent="0">
              <a:spcBef>
                <a:spcPts val="0"/>
              </a:spcBef>
              <a:buNone/>
              <a:defRPr lang="en-US" sz="20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1"/>
            <a:ext cx="12191999" cy="4467828"/>
          </a:xfr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4" name="Straight Connector 3">
            <a:extLst>
              <a:ext uri="{FF2B5EF4-FFF2-40B4-BE49-F238E27FC236}">
                <a16:creationId xmlns:a16="http://schemas.microsoft.com/office/drawing/2014/main" id="{A7765164-0D02-5316-1845-119CB011190B}"/>
              </a:ext>
              <a:ext uri="{C183D7F6-B498-43B3-948B-1728B52AA6E4}">
                <adec:decorative xmlns:adec="http://schemas.microsoft.com/office/drawing/2017/decorative" val="1"/>
              </a:ext>
            </a:extLst>
          </p:cNvPr>
          <p:cNvCxnSpPr>
            <a:cxnSpLocks/>
          </p:cNvCxnSpPr>
          <p:nvPr/>
        </p:nvCxnSpPr>
        <p:spPr>
          <a:xfrm>
            <a:off x="0" y="5715000"/>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2DFA2081-8ED6-0719-D0B6-2818D6019332}"/>
              </a:ext>
            </a:extLst>
          </p:cNvPr>
          <p:cNvSpPr>
            <a:spLocks noGrp="1"/>
          </p:cNvSpPr>
          <p:nvPr>
            <p:ph type="ftr" sz="quarter" idx="15"/>
          </p:nvPr>
        </p:nvSpPr>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9A51F47A-9B8B-A343-2C56-110E21331AE3}"/>
              </a:ext>
            </a:extLst>
          </p:cNvPr>
          <p:cNvSpPr>
            <a:spLocks noGrp="1"/>
          </p:cNvSpPr>
          <p:nvPr>
            <p:ph type="dt" sz="half" idx="14"/>
          </p:nvPr>
        </p:nvSpPr>
        <p:spPr/>
        <p:txBody>
          <a:bodyPr/>
          <a:lstStyle/>
          <a:p>
            <a:fld id="{2ABAD28B-DD56-4B56-883A-96608C765E28}" type="datetimeFigureOut">
              <a:rPr lang="en-US" smtClean="0"/>
              <a:pPr/>
              <a:t>9/25/2026</a:t>
            </a:fld>
            <a:endParaRPr lang="en-US" dirty="0"/>
          </a:p>
        </p:txBody>
      </p:sp>
      <p:sp>
        <p:nvSpPr>
          <p:cNvPr id="10" name="Slide Number Placeholder 9">
            <a:extLst>
              <a:ext uri="{FF2B5EF4-FFF2-40B4-BE49-F238E27FC236}">
                <a16:creationId xmlns:a16="http://schemas.microsoft.com/office/drawing/2014/main" id="{F259CCC4-FA9E-2074-3142-5EBA62F91B25}"/>
              </a:ext>
            </a:extLst>
          </p:cNvPr>
          <p:cNvSpPr>
            <a:spLocks noGrp="1"/>
          </p:cNvSpPr>
          <p:nvPr>
            <p:ph type="sldNum" sz="quarter" idx="16"/>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922326464"/>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736010" cy="2845567"/>
          </a:xfrm>
        </p:spPr>
        <p:txBody>
          <a:bodyPr vert="horz" lIns="91440" tIns="45720" rIns="91440" bIns="45720" rtlCol="0" anchor="b">
            <a:no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729915" cy="1123122"/>
          </a:xfrm>
        </p:spPr>
        <p:txBody>
          <a:bodyPr vert="horz" lIns="91440" tIns="45720" rIns="91440" bIns="45720" rtlCol="0">
            <a:normAutofit/>
          </a:bodyPr>
          <a:lstStyle>
            <a:lvl1pPr marL="0" indent="0">
              <a:lnSpc>
                <a:spcPct val="100000"/>
              </a:lnSpc>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61778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7" name="Footer Placeholder 4">
            <a:extLst>
              <a:ext uri="{FF2B5EF4-FFF2-40B4-BE49-F238E27FC236}">
                <a16:creationId xmlns:a16="http://schemas.microsoft.com/office/drawing/2014/main" id="{DF8C2BF2-38FB-0598-A4BE-DD111229A3FE}"/>
              </a:ext>
            </a:extLst>
          </p:cNvPr>
          <p:cNvSpPr>
            <a:spLocks noGrp="1"/>
          </p:cNvSpPr>
          <p:nvPr>
            <p:ph type="ftr" sz="quarter" idx="11"/>
          </p:nvPr>
        </p:nvSpPr>
        <p:spPr>
          <a:xfrm>
            <a:off x="7846388" y="6438900"/>
            <a:ext cx="1714301" cy="419100"/>
          </a:xfrm>
        </p:spPr>
        <p:txBody>
          <a:bodyPr/>
          <a:lstStyle/>
          <a:p>
            <a:r>
              <a:rPr lang="en-US"/>
              <a:t>Sample footer text</a:t>
            </a:r>
            <a:endParaRPr lang="en-US" dirty="0"/>
          </a:p>
        </p:txBody>
      </p:sp>
      <p:sp>
        <p:nvSpPr>
          <p:cNvPr id="18" name="Date Placeholder 4">
            <a:extLst>
              <a:ext uri="{FF2B5EF4-FFF2-40B4-BE49-F238E27FC236}">
                <a16:creationId xmlns:a16="http://schemas.microsoft.com/office/drawing/2014/main" id="{5A41BBAF-5441-8512-B575-2EB961DD485E}"/>
              </a:ext>
            </a:extLst>
          </p:cNvPr>
          <p:cNvSpPr>
            <a:spLocks noGrp="1"/>
          </p:cNvSpPr>
          <p:nvPr>
            <p:ph type="dt" sz="half" idx="15"/>
          </p:nvPr>
        </p:nvSpPr>
        <p:spPr>
          <a:xfrm>
            <a:off x="9650896" y="6438900"/>
            <a:ext cx="864704" cy="419100"/>
          </a:xfrm>
        </p:spPr>
        <p:txBody>
          <a:bodyPr/>
          <a:lstStyle/>
          <a:p>
            <a:endParaRPr lang="en-US" dirty="0"/>
          </a:p>
        </p:txBody>
      </p:sp>
      <p:sp>
        <p:nvSpPr>
          <p:cNvPr id="19" name="Slide Number Placeholder 5">
            <a:extLst>
              <a:ext uri="{FF2B5EF4-FFF2-40B4-BE49-F238E27FC236}">
                <a16:creationId xmlns:a16="http://schemas.microsoft.com/office/drawing/2014/main" id="{89401810-4A83-D1CF-00A6-76F622C7153C}"/>
              </a:ext>
            </a:extLst>
          </p:cNvPr>
          <p:cNvSpPr>
            <a:spLocks noGrp="1"/>
          </p:cNvSpPr>
          <p:nvPr>
            <p:ph type="sldNum" sz="quarter" idx="12"/>
          </p:nvPr>
        </p:nvSpPr>
        <p:spPr>
          <a:xfrm>
            <a:off x="10523764" y="6438900"/>
            <a:ext cx="601436" cy="419100"/>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41610692"/>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1A7175-8061-E7CC-68E4-2B3CECB6CCFE}"/>
              </a:ext>
            </a:extLst>
          </p:cNvPr>
          <p:cNvSpPr>
            <a:spLocks noGrp="1"/>
          </p:cNvSpPr>
          <p:nvPr>
            <p:ph type="title" hasCustomPrompt="1"/>
          </p:nvPr>
        </p:nvSpPr>
        <p:spPr>
          <a:xfrm>
            <a:off x="1088136" y="1090244"/>
            <a:ext cx="10037064" cy="5159257"/>
          </a:xfrm>
        </p:spPr>
        <p:txBody>
          <a:bodyPr>
            <a:normAutofit/>
          </a:bodyPr>
          <a:lstStyle>
            <a:lvl1pPr>
              <a:defRPr sz="8000">
                <a:solidFill>
                  <a:schemeClr val="bg1"/>
                </a:solidFill>
              </a:defRPr>
            </a:lvl1pPr>
          </a:lstStyle>
          <a:p>
            <a:r>
              <a:rPr lang="en-US" dirty="0"/>
              <a:t>Section header</a:t>
            </a:r>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lvl1pPr>
              <a:defRPr>
                <a:solidFill>
                  <a:schemeClr val="bg1"/>
                </a:solidFill>
              </a:defRPr>
            </a:lvl1pPr>
          </a:lstStyle>
          <a:p>
            <a:endParaRPr lang="en-US" dirty="0"/>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lvl1pPr>
              <a:defRPr>
                <a:solidFill>
                  <a:schemeClr val="bg1"/>
                </a:solidFill>
              </a:defRPr>
            </a:lvl1pPr>
          </a:lstStyle>
          <a:p>
            <a:fld id="{2ABAD28B-DD56-4B56-883A-96608C765E28}" type="datetimeFigureOut">
              <a:rPr lang="en-US" smtClean="0"/>
              <a:pPr/>
              <a:t>9/25/2026</a:t>
            </a:fld>
            <a:endParaRPr lang="en-US" dirty="0"/>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lvl1pPr>
              <a:defRPr>
                <a:solidFill>
                  <a:schemeClr val="bg1"/>
                </a:solidFill>
              </a:defRPr>
            </a:lvl1pPr>
          </a:lstStyle>
          <a:p>
            <a:fld id="{7DF5BAF5-ABAB-4575-8E56-D109A3D17F9F}" type="slidenum">
              <a:rPr lang="en-US" smtClean="0"/>
              <a:pPr/>
              <a:t>‹#›</a:t>
            </a:fld>
            <a:endParaRPr lang="en-US" dirty="0"/>
          </a:p>
        </p:txBody>
      </p:sp>
      <p:cxnSp>
        <p:nvCxnSpPr>
          <p:cNvPr id="9" name="Straight Connector 8">
            <a:extLst>
              <a:ext uri="{FF2B5EF4-FFF2-40B4-BE49-F238E27FC236}">
                <a16:creationId xmlns:a16="http://schemas.microsoft.com/office/drawing/2014/main" id="{96A5A591-C2D3-D6A3-432F-2C1371951C13}"/>
              </a:ext>
              <a:ext uri="{C183D7F6-B498-43B3-948B-1728B52AA6E4}">
                <adec:decorative xmlns:adec="http://schemas.microsoft.com/office/drawing/2017/decorative" val="1"/>
              </a:ext>
            </a:extLst>
          </p:cNvPr>
          <p:cNvCxnSpPr>
            <a:cxnSpLocks/>
          </p:cNvCxnSpPr>
          <p:nvPr/>
        </p:nvCxnSpPr>
        <p:spPr>
          <a:xfrm>
            <a:off x="0" y="1205868"/>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5434074"/>
      </p:ext>
    </p:extLst>
  </p:cSld>
  <p:clrMapOvr>
    <a:masterClrMapping/>
  </p:clrMapOvr>
  <p:hf sldNum="0" hdr="0" ft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916BDA-9E36-8180-7EBC-AC2A35C79FFC}"/>
              </a:ext>
            </a:extLst>
          </p:cNvPr>
          <p:cNvSpPr>
            <a:spLocks noGrp="1"/>
          </p:cNvSpPr>
          <p:nvPr>
            <p:ph type="title" hasCustomPrompt="1"/>
          </p:nvPr>
        </p:nvSpPr>
        <p:spPr>
          <a:xfrm>
            <a:off x="1090940" y="1088702"/>
            <a:ext cx="8479072" cy="1395553"/>
          </a:xfrm>
        </p:spPr>
        <p:txBody>
          <a:bodyPr anchor="t">
            <a:normAutofit/>
          </a:bodyPr>
          <a:lstStyle>
            <a:lvl1pPr>
              <a:defRPr sz="3600"/>
            </a:lvl1pPr>
          </a:lstStyle>
          <a:p>
            <a:r>
              <a:rPr lang="en-US" dirty="0"/>
              <a:t>Agenda</a:t>
            </a:r>
          </a:p>
        </p:txBody>
      </p:sp>
      <p:sp>
        <p:nvSpPr>
          <p:cNvPr id="8" name="Content Placeholder 6">
            <a:extLst>
              <a:ext uri="{FF2B5EF4-FFF2-40B4-BE49-F238E27FC236}">
                <a16:creationId xmlns:a16="http://schemas.microsoft.com/office/drawing/2014/main" id="{92AF672E-4752-50B9-9301-C8042FD003CC}"/>
              </a:ext>
            </a:extLst>
          </p:cNvPr>
          <p:cNvSpPr>
            <a:spLocks noGrp="1"/>
          </p:cNvSpPr>
          <p:nvPr>
            <p:ph sz="quarter" idx="13"/>
          </p:nvPr>
        </p:nvSpPr>
        <p:spPr>
          <a:xfrm>
            <a:off x="1096697" y="2484255"/>
            <a:ext cx="8467558" cy="3539514"/>
          </a:xfrm>
        </p:spPr>
        <p:txBody>
          <a:bodyPr>
            <a:normAutofit/>
          </a:bodyPr>
          <a:lstStyle>
            <a:lvl1pPr marL="457200" indent="-457200">
              <a:lnSpc>
                <a:spcPct val="100000"/>
              </a:lnSpc>
              <a:buFont typeface="+mj-lt"/>
              <a:buAutoNum type="arabicPeriod"/>
              <a:defRPr sz="2000"/>
            </a:lvl1pPr>
            <a:lvl2pPr marL="685800" indent="-457200">
              <a:lnSpc>
                <a:spcPct val="100000"/>
              </a:lnSpc>
              <a:buFont typeface="+mj-lt"/>
              <a:buAutoNum type="arabicPeriod"/>
              <a:defRPr sz="2000"/>
            </a:lvl2pPr>
            <a:lvl3pPr marL="800100" indent="-342900">
              <a:lnSpc>
                <a:spcPct val="100000"/>
              </a:lnSpc>
              <a:buFont typeface="+mj-lt"/>
              <a:buAutoNum type="arabicPeriod"/>
              <a:defRPr sz="2000"/>
            </a:lvl3pPr>
            <a:lvl4pPr marL="1028700" indent="-342900">
              <a:lnSpc>
                <a:spcPct val="100000"/>
              </a:lnSpc>
              <a:buFont typeface="+mj-lt"/>
              <a:buAutoNum type="arabicPeriod"/>
              <a:defRPr sz="2000"/>
            </a:lvl4pPr>
            <a:lvl5pPr marL="1257300" indent="-342900">
              <a:lnSpc>
                <a:spcPct val="100000"/>
              </a:lnSpc>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1">
              <a:rPr lang="en-US" smtClean="0"/>
              <a:t>9/25/2026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9" name="Straight Connector 8">
            <a:extLst>
              <a:ext uri="{FF2B5EF4-FFF2-40B4-BE49-F238E27FC236}">
                <a16:creationId xmlns:a16="http://schemas.microsoft.com/office/drawing/2014/main" id="{4565070F-FB67-7572-2807-986A25537650}"/>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582477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1088136" y="1088136"/>
            <a:ext cx="5749392" cy="1554480"/>
          </a:xfrm>
        </p:spPr>
        <p:txBody>
          <a:bodyPr anchor="t" anchorCtr="0">
            <a:normAutofit/>
          </a:bodyPr>
          <a:lstStyle>
            <a:lvl1pPr>
              <a:defRPr sz="36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088136" y="2651760"/>
            <a:ext cx="5749392" cy="3694176"/>
          </a:xfrm>
        </p:spPr>
        <p:txBody>
          <a:bodyPr>
            <a:normAutofit/>
          </a:bodyPr>
          <a:lstStyle>
            <a:lvl1pPr marL="342900" indent="-342900">
              <a:lnSpc>
                <a:spcPct val="100000"/>
              </a:lnSpc>
              <a:buFont typeface="System Font Regular"/>
              <a:buChar char="-"/>
              <a:defRPr sz="2000"/>
            </a:lvl1pPr>
            <a:lvl2pPr>
              <a:lnSpc>
                <a:spcPct val="100000"/>
              </a:lnSpc>
              <a:defRPr sz="2000"/>
            </a:lvl2pPr>
            <a:lvl3pPr>
              <a:lnSpc>
                <a:spcPct val="100000"/>
              </a:lnSpc>
              <a:defRPr sz="2000"/>
            </a:lvl3pPr>
            <a:lvl4pPr>
              <a:lnSpc>
                <a:spcPct val="100000"/>
              </a:lnSpc>
              <a:defRPr sz="2000"/>
            </a:lvl4pPr>
            <a:lvl5pPr>
              <a:lnSpc>
                <a:spcPct val="100000"/>
              </a:lnSpc>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090940" y="6438900"/>
            <a:ext cx="3915404" cy="419100"/>
          </a:xfrm>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006344" y="6438900"/>
            <a:ext cx="1126120" cy="419100"/>
          </a:xfrm>
        </p:spPr>
        <p:txBody>
          <a:bodyPr/>
          <a:lstStyle/>
          <a:p>
            <a:fld id="{8A60B404-9532-4DA8-8A40-EC339A5BE635}" type="datetime1">
              <a:rPr lang="en-US" smtClean="0"/>
              <a:t>9/25/2026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132464" y="6438900"/>
            <a:ext cx="705064" cy="419100"/>
          </a:xfrm>
        </p:spPr>
        <p:txBody>
          <a:bodyPr/>
          <a:lstStyle/>
          <a:p>
            <a:fld id="{CC057153-B650-4DEB-B370-79DDCFDCE934}" type="slidenum">
              <a:rPr lang="en-US" smtClean="0"/>
              <a:pPr/>
              <a:t>‹#›</a:t>
            </a:fld>
            <a:endParaRPr lang="en-US" dirty="0"/>
          </a:p>
        </p:txBody>
      </p:sp>
      <p:sp>
        <p:nvSpPr>
          <p:cNvPr id="6" name="Picture Placeholder 10">
            <a:extLst>
              <a:ext uri="{FF2B5EF4-FFF2-40B4-BE49-F238E27FC236}">
                <a16:creationId xmlns:a16="http://schemas.microsoft.com/office/drawing/2014/main" id="{E4B52E79-E470-1B1A-EADF-94DA7253B328}"/>
              </a:ext>
            </a:extLst>
          </p:cNvPr>
          <p:cNvSpPr>
            <a:spLocks noGrp="1"/>
          </p:cNvSpPr>
          <p:nvPr>
            <p:ph type="pic" sz="quarter" idx="14" hasCustomPrompt="1"/>
          </p:nvPr>
        </p:nvSpPr>
        <p:spPr>
          <a:xfrm>
            <a:off x="7315200" y="0"/>
            <a:ext cx="48768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8" name="Straight Connector 7">
            <a:extLst>
              <a:ext uri="{FF2B5EF4-FFF2-40B4-BE49-F238E27FC236}">
                <a16:creationId xmlns:a16="http://schemas.microsoft.com/office/drawing/2014/main" id="{94C1AE97-7274-F222-2135-C3524958A87F}"/>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673366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7676" y="1114856"/>
            <a:ext cx="3923455" cy="4083580"/>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294612" y="1115290"/>
            <a:ext cx="5809713" cy="5171210"/>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9954F329-E63B-9F25-4E06-2E98A6453DA7}"/>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17583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3701" y="1114655"/>
            <a:ext cx="2771326" cy="3675552"/>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134532" y="1129145"/>
            <a:ext cx="7794231" cy="5157355"/>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7547F2C9-46DC-B902-E883-CE0360E6DD94}"/>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245776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85788" y="1111101"/>
            <a:ext cx="6339412" cy="1143000"/>
          </a:xfrm>
        </p:spPr>
        <p:txBody>
          <a:bodyPr anchor="t"/>
          <a:lstStyle/>
          <a:p>
            <a:r>
              <a:rPr lang="en-US"/>
              <a:t>Click to edit Master title style</a:t>
            </a:r>
            <a:endParaRPr lang="en-US" dirty="0"/>
          </a:p>
        </p:txBody>
      </p:sp>
      <p:sp>
        <p:nvSpPr>
          <p:cNvPr id="6" name="Picture Placeholder 10">
            <a:extLst>
              <a:ext uri="{FF2B5EF4-FFF2-40B4-BE49-F238E27FC236}">
                <a16:creationId xmlns:a16="http://schemas.microsoft.com/office/drawing/2014/main" id="{6FB7CB50-241E-E6B6-1C0E-1B5466B14779}"/>
              </a:ext>
            </a:extLst>
          </p:cNvPr>
          <p:cNvSpPr>
            <a:spLocks noGrp="1"/>
          </p:cNvSpPr>
          <p:nvPr>
            <p:ph type="pic" sz="quarter" idx="13" hasCustomPrompt="1"/>
          </p:nvPr>
        </p:nvSpPr>
        <p:spPr>
          <a:xfrm>
            <a:off x="12192" y="0"/>
            <a:ext cx="4506585"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1" name="Content Placeholder 7">
            <a:extLst>
              <a:ext uri="{FF2B5EF4-FFF2-40B4-BE49-F238E27FC236}">
                <a16:creationId xmlns:a16="http://schemas.microsoft.com/office/drawing/2014/main" id="{A1C94DDD-A7D7-1407-F63C-F296AB454220}"/>
              </a:ext>
            </a:extLst>
          </p:cNvPr>
          <p:cNvSpPr>
            <a:spLocks noGrp="1"/>
          </p:cNvSpPr>
          <p:nvPr>
            <p:ph sz="quarter" idx="18"/>
          </p:nvPr>
        </p:nvSpPr>
        <p:spPr>
          <a:xfrm>
            <a:off x="4785787" y="2402887"/>
            <a:ext cx="6339414" cy="3883614"/>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3871FB-7459-8C2E-BA80-AD31AE855A93}"/>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7504282-04A3-1CE1-50A4-AF83D0D40A42}"/>
              </a:ext>
            </a:extLst>
          </p:cNvPr>
          <p:cNvSpPr>
            <a:spLocks noGrp="1"/>
          </p:cNvSpPr>
          <p:nvPr>
            <p:ph type="ftr" sz="quarter" idx="11"/>
          </p:nvPr>
        </p:nvSpPr>
        <p:spPr>
          <a:xfrm>
            <a:off x="4785788" y="6438900"/>
            <a:ext cx="4774902" cy="419100"/>
          </a:xfrm>
        </p:spPr>
        <p:txBody>
          <a:bodyPr/>
          <a:lstStyle/>
          <a:p>
            <a:r>
              <a:rPr lang="en-US"/>
              <a:t>Sample footer text</a:t>
            </a:r>
            <a:endParaRPr lang="en-US" dirty="0"/>
          </a:p>
        </p:txBody>
      </p:sp>
      <p:sp>
        <p:nvSpPr>
          <p:cNvPr id="7" name="Date Placeholder 4">
            <a:extLst>
              <a:ext uri="{FF2B5EF4-FFF2-40B4-BE49-F238E27FC236}">
                <a16:creationId xmlns:a16="http://schemas.microsoft.com/office/drawing/2014/main" id="{CA12AEFE-D7DE-804A-807C-704D5B34E130}"/>
              </a:ext>
            </a:extLst>
          </p:cNvPr>
          <p:cNvSpPr>
            <a:spLocks noGrp="1"/>
          </p:cNvSpPr>
          <p:nvPr>
            <p:ph type="dt" sz="half" idx="15"/>
          </p:nvPr>
        </p:nvSpPr>
        <p:spPr>
          <a:xfrm>
            <a:off x="9650896" y="6438900"/>
            <a:ext cx="864704" cy="419100"/>
          </a:xfrm>
        </p:spPr>
        <p:txBody>
          <a:bodyPr/>
          <a:lstStyle/>
          <a:p>
            <a:endParaRPr lang="en-US" dirty="0"/>
          </a:p>
        </p:txBody>
      </p:sp>
      <p:sp>
        <p:nvSpPr>
          <p:cNvPr id="8" name="Slide Number Placeholder 5">
            <a:extLst>
              <a:ext uri="{FF2B5EF4-FFF2-40B4-BE49-F238E27FC236}">
                <a16:creationId xmlns:a16="http://schemas.microsoft.com/office/drawing/2014/main" id="{9C293909-C7AB-A707-F48B-6007FE72563B}"/>
              </a:ext>
            </a:extLst>
          </p:cNvPr>
          <p:cNvSpPr>
            <a:spLocks noGrp="1"/>
          </p:cNvSpPr>
          <p:nvPr>
            <p:ph type="sldNum" sz="quarter" idx="12"/>
          </p:nvPr>
        </p:nvSpPr>
        <p:spPr>
          <a:xfrm>
            <a:off x="10523764" y="6438900"/>
            <a:ext cx="601436" cy="419100"/>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0224670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776991" y="1112104"/>
            <a:ext cx="7321615" cy="932688"/>
          </a:xfrm>
        </p:spPr>
        <p:txBody>
          <a:bodyPr anchor="t"/>
          <a:lstStyle/>
          <a:p>
            <a:r>
              <a:rPr lang="en-US"/>
              <a:t>Click to edit Master title style</a:t>
            </a:r>
            <a:endParaRPr lang="en-US" dirty="0"/>
          </a:p>
        </p:txBody>
      </p:sp>
      <p:sp>
        <p:nvSpPr>
          <p:cNvPr id="15" name="Picture Placeholder 10">
            <a:extLst>
              <a:ext uri="{FF2B5EF4-FFF2-40B4-BE49-F238E27FC236}">
                <a16:creationId xmlns:a16="http://schemas.microsoft.com/office/drawing/2014/main" id="{5189CF27-6D02-DB0D-F5D1-1535F1479166}"/>
              </a:ext>
            </a:extLst>
          </p:cNvPr>
          <p:cNvSpPr>
            <a:spLocks noGrp="1"/>
          </p:cNvSpPr>
          <p:nvPr>
            <p:ph type="pic" sz="quarter" idx="19" hasCustomPrompt="1"/>
          </p:nvPr>
        </p:nvSpPr>
        <p:spPr>
          <a:xfrm>
            <a:off x="0" y="0"/>
            <a:ext cx="352643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Content Placeholder 7">
            <a:extLst>
              <a:ext uri="{FF2B5EF4-FFF2-40B4-BE49-F238E27FC236}">
                <a16:creationId xmlns:a16="http://schemas.microsoft.com/office/drawing/2014/main" id="{6373ED08-D584-FD0F-C5B0-EF4E07A0D890}"/>
              </a:ext>
            </a:extLst>
          </p:cNvPr>
          <p:cNvSpPr>
            <a:spLocks noGrp="1"/>
          </p:cNvSpPr>
          <p:nvPr>
            <p:ph sz="quarter" idx="18"/>
          </p:nvPr>
        </p:nvSpPr>
        <p:spPr>
          <a:xfrm>
            <a:off x="3776075" y="2187258"/>
            <a:ext cx="7349126"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7D906524-8E7E-05A8-4F9E-A2C39750A30C}"/>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8F256971-28FA-FA33-0A85-0B851EA7AE9B}"/>
              </a:ext>
            </a:extLst>
          </p:cNvPr>
          <p:cNvSpPr>
            <a:spLocks noGrp="1"/>
          </p:cNvSpPr>
          <p:nvPr>
            <p:ph type="ftr" sz="quarter" idx="11"/>
          </p:nvPr>
        </p:nvSpPr>
        <p:spPr>
          <a:xfrm>
            <a:off x="3776076" y="6438900"/>
            <a:ext cx="5784614" cy="419100"/>
          </a:xfrm>
        </p:spPr>
        <p:txBody>
          <a:bodyPr/>
          <a:lstStyle/>
          <a:p>
            <a:r>
              <a:rPr lang="en-US"/>
              <a:t>Sample footer text</a:t>
            </a:r>
            <a:endParaRPr lang="en-US" dirty="0"/>
          </a:p>
        </p:txBody>
      </p:sp>
      <p:sp>
        <p:nvSpPr>
          <p:cNvPr id="7" name="Date Placeholder 4">
            <a:extLst>
              <a:ext uri="{FF2B5EF4-FFF2-40B4-BE49-F238E27FC236}">
                <a16:creationId xmlns:a16="http://schemas.microsoft.com/office/drawing/2014/main" id="{F04B437D-29C2-D3ED-BEFA-E1F868B0FB5E}"/>
              </a:ext>
            </a:extLst>
          </p:cNvPr>
          <p:cNvSpPr>
            <a:spLocks noGrp="1"/>
          </p:cNvSpPr>
          <p:nvPr>
            <p:ph type="dt" sz="half" idx="15"/>
          </p:nvPr>
        </p:nvSpPr>
        <p:spPr>
          <a:xfrm>
            <a:off x="9650896" y="6438900"/>
            <a:ext cx="864704" cy="419100"/>
          </a:xfrm>
        </p:spPr>
        <p:txBody>
          <a:bodyPr/>
          <a:lstStyle/>
          <a:p>
            <a:endParaRPr lang="en-US" dirty="0"/>
          </a:p>
        </p:txBody>
      </p:sp>
      <p:sp>
        <p:nvSpPr>
          <p:cNvPr id="8" name="Slide Number Placeholder 5">
            <a:extLst>
              <a:ext uri="{FF2B5EF4-FFF2-40B4-BE49-F238E27FC236}">
                <a16:creationId xmlns:a16="http://schemas.microsoft.com/office/drawing/2014/main" id="{70EB108D-6128-5356-6097-7D1D10551222}"/>
              </a:ext>
            </a:extLst>
          </p:cNvPr>
          <p:cNvSpPr>
            <a:spLocks noGrp="1"/>
          </p:cNvSpPr>
          <p:nvPr>
            <p:ph type="sldNum" sz="quarter" idx="12"/>
          </p:nvPr>
        </p:nvSpPr>
        <p:spPr>
          <a:xfrm>
            <a:off x="10523764" y="6438900"/>
            <a:ext cx="601436" cy="419100"/>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8339306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3394" y="1112104"/>
            <a:ext cx="7343564" cy="9326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3393" y="2187258"/>
            <a:ext cx="7343565"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4D039FC6-F740-7D02-FD07-5B1B076DCE63}"/>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DC666571-786A-B2D2-4FC3-C22E71C243E1}"/>
              </a:ext>
            </a:extLst>
          </p:cNvPr>
          <p:cNvSpPr>
            <a:spLocks noGrp="1"/>
          </p:cNvSpPr>
          <p:nvPr>
            <p:ph type="ftr" sz="quarter" idx="11"/>
          </p:nvPr>
        </p:nvSpPr>
        <p:spPr>
          <a:xfrm>
            <a:off x="1093394" y="6438900"/>
            <a:ext cx="5779054" cy="419100"/>
          </a:xfrm>
        </p:spPr>
        <p:txBody>
          <a:bodyPr/>
          <a:lstStyle/>
          <a:p>
            <a:r>
              <a:rPr lang="en-US"/>
              <a:t>Sample footer text</a:t>
            </a:r>
            <a:endParaRPr lang="en-US" dirty="0"/>
          </a:p>
        </p:txBody>
      </p:sp>
      <p:sp>
        <p:nvSpPr>
          <p:cNvPr id="6" name="Date Placeholder 4">
            <a:extLst>
              <a:ext uri="{FF2B5EF4-FFF2-40B4-BE49-F238E27FC236}">
                <a16:creationId xmlns:a16="http://schemas.microsoft.com/office/drawing/2014/main" id="{A324A0C0-9CB0-6208-0780-67E3C7F2C02C}"/>
              </a:ext>
            </a:extLst>
          </p:cNvPr>
          <p:cNvSpPr>
            <a:spLocks noGrp="1"/>
          </p:cNvSpPr>
          <p:nvPr>
            <p:ph type="dt" sz="half" idx="15"/>
          </p:nvPr>
        </p:nvSpPr>
        <p:spPr>
          <a:xfrm>
            <a:off x="6962654" y="6438900"/>
            <a:ext cx="864704" cy="419100"/>
          </a:xfrm>
        </p:spPr>
        <p:txBody>
          <a:bodyPr/>
          <a:lstStyle/>
          <a:p>
            <a:endParaRPr lang="en-US" dirty="0"/>
          </a:p>
        </p:txBody>
      </p:sp>
      <p:sp>
        <p:nvSpPr>
          <p:cNvPr id="7" name="Slide Number Placeholder 5">
            <a:extLst>
              <a:ext uri="{FF2B5EF4-FFF2-40B4-BE49-F238E27FC236}">
                <a16:creationId xmlns:a16="http://schemas.microsoft.com/office/drawing/2014/main" id="{7F7421E2-5EEC-7791-DBEE-600FF5170816}"/>
              </a:ext>
            </a:extLst>
          </p:cNvPr>
          <p:cNvSpPr>
            <a:spLocks noGrp="1"/>
          </p:cNvSpPr>
          <p:nvPr>
            <p:ph type="sldNum" sz="quarter" idx="12"/>
          </p:nvPr>
        </p:nvSpPr>
        <p:spPr>
          <a:xfrm>
            <a:off x="7835522" y="6438900"/>
            <a:ext cx="601436" cy="419100"/>
          </a:xfrm>
        </p:spPr>
        <p:txBody>
          <a:bodyPr/>
          <a:lstStyle/>
          <a:p>
            <a:fld id="{CC057153-B650-4DEB-B370-79DDCFDCE934}" type="slidenum">
              <a:rPr lang="en-US" smtClean="0"/>
              <a:pPr/>
              <a:t>‹#›</a:t>
            </a:fld>
            <a:endParaRPr lang="en-US" dirty="0"/>
          </a:p>
        </p:txBody>
      </p:sp>
      <p:sp>
        <p:nvSpPr>
          <p:cNvPr id="12" name="Picture Placeholder 10">
            <a:extLst>
              <a:ext uri="{FF2B5EF4-FFF2-40B4-BE49-F238E27FC236}">
                <a16:creationId xmlns:a16="http://schemas.microsoft.com/office/drawing/2014/main" id="{61964118-5CFA-FFA8-E19F-A107D63DDC08}"/>
              </a:ext>
            </a:extLst>
          </p:cNvPr>
          <p:cNvSpPr>
            <a:spLocks noGrp="1"/>
          </p:cNvSpPr>
          <p:nvPr>
            <p:ph type="pic" sz="quarter" idx="13" hasCustomPrompt="1"/>
          </p:nvPr>
        </p:nvSpPr>
        <p:spPr>
          <a:xfrm>
            <a:off x="8665559" y="0"/>
            <a:ext cx="352643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50150684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066" y="1115736"/>
            <a:ext cx="4738583" cy="1288169"/>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88192" y="2552124"/>
            <a:ext cx="4738450" cy="373437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B84581EB-7A5A-925D-6E20-5C04A0EAA2CE}"/>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084EA123-AEAB-8F33-C22D-31F9F11A93CE}"/>
              </a:ext>
            </a:extLst>
          </p:cNvPr>
          <p:cNvSpPr>
            <a:spLocks noGrp="1"/>
          </p:cNvSpPr>
          <p:nvPr>
            <p:ph type="ftr" sz="quarter" idx="11"/>
          </p:nvPr>
        </p:nvSpPr>
        <p:spPr>
          <a:xfrm>
            <a:off x="1088066" y="6438900"/>
            <a:ext cx="3174065" cy="419100"/>
          </a:xfrm>
        </p:spPr>
        <p:txBody>
          <a:bodyPr/>
          <a:lstStyle/>
          <a:p>
            <a:r>
              <a:rPr lang="en-US"/>
              <a:t>Sample footer text</a:t>
            </a:r>
            <a:endParaRPr lang="en-US" dirty="0"/>
          </a:p>
        </p:txBody>
      </p:sp>
      <p:sp>
        <p:nvSpPr>
          <p:cNvPr id="9" name="Date Placeholder 4">
            <a:extLst>
              <a:ext uri="{FF2B5EF4-FFF2-40B4-BE49-F238E27FC236}">
                <a16:creationId xmlns:a16="http://schemas.microsoft.com/office/drawing/2014/main" id="{AA2FCA56-AA13-81B1-1707-7A5D7557B5F8}"/>
              </a:ext>
            </a:extLst>
          </p:cNvPr>
          <p:cNvSpPr>
            <a:spLocks noGrp="1"/>
          </p:cNvSpPr>
          <p:nvPr>
            <p:ph type="dt" sz="half" idx="15"/>
          </p:nvPr>
        </p:nvSpPr>
        <p:spPr>
          <a:xfrm>
            <a:off x="4352338" y="6438900"/>
            <a:ext cx="864704" cy="419100"/>
          </a:xfrm>
        </p:spPr>
        <p:txBody>
          <a:bodyPr/>
          <a:lstStyle/>
          <a:p>
            <a:endParaRPr lang="en-US" dirty="0"/>
          </a:p>
        </p:txBody>
      </p:sp>
      <p:sp>
        <p:nvSpPr>
          <p:cNvPr id="10" name="Slide Number Placeholder 5">
            <a:extLst>
              <a:ext uri="{FF2B5EF4-FFF2-40B4-BE49-F238E27FC236}">
                <a16:creationId xmlns:a16="http://schemas.microsoft.com/office/drawing/2014/main" id="{4358A8E3-C7AA-9216-35FD-FE820598287A}"/>
              </a:ext>
            </a:extLst>
          </p:cNvPr>
          <p:cNvSpPr>
            <a:spLocks noGrp="1"/>
          </p:cNvSpPr>
          <p:nvPr>
            <p:ph type="sldNum" sz="quarter" idx="12"/>
          </p:nvPr>
        </p:nvSpPr>
        <p:spPr>
          <a:xfrm>
            <a:off x="5225206" y="6438900"/>
            <a:ext cx="601436" cy="419100"/>
          </a:xfrm>
        </p:spPr>
        <p:txBody>
          <a:body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0" y="0"/>
            <a:ext cx="609600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72908800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8396" y="1111101"/>
            <a:ext cx="3813845" cy="1493863"/>
          </a:xfrm>
        </p:spPr>
        <p:txBody>
          <a:bodyPr anchor="t">
            <a:no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98397" y="2700671"/>
            <a:ext cx="3813846" cy="358583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A796DD-1556-39E2-B5E4-90C1C2459D2D}"/>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06713B13-BCC2-B853-769C-4BC6A57D7B6D}"/>
              </a:ext>
            </a:extLst>
          </p:cNvPr>
          <p:cNvSpPr>
            <a:spLocks noGrp="1"/>
          </p:cNvSpPr>
          <p:nvPr>
            <p:ph type="ftr" sz="quarter" idx="11"/>
          </p:nvPr>
        </p:nvSpPr>
        <p:spPr>
          <a:xfrm>
            <a:off x="1098395" y="6438900"/>
            <a:ext cx="2249335" cy="419100"/>
          </a:xfrm>
        </p:spPr>
        <p:txBody>
          <a:bodyPr/>
          <a:lstStyle/>
          <a:p>
            <a:r>
              <a:rPr lang="en-US"/>
              <a:t>Sample footer text</a:t>
            </a:r>
            <a:endParaRPr lang="en-US" dirty="0"/>
          </a:p>
        </p:txBody>
      </p:sp>
      <p:sp>
        <p:nvSpPr>
          <p:cNvPr id="6" name="Date Placeholder 4">
            <a:extLst>
              <a:ext uri="{FF2B5EF4-FFF2-40B4-BE49-F238E27FC236}">
                <a16:creationId xmlns:a16="http://schemas.microsoft.com/office/drawing/2014/main" id="{A9915D6C-CE56-12D3-C15C-C56B3EFEAFE7}"/>
              </a:ext>
            </a:extLst>
          </p:cNvPr>
          <p:cNvSpPr>
            <a:spLocks noGrp="1"/>
          </p:cNvSpPr>
          <p:nvPr>
            <p:ph type="dt" sz="half" idx="15"/>
          </p:nvPr>
        </p:nvSpPr>
        <p:spPr>
          <a:xfrm>
            <a:off x="3437937" y="6438900"/>
            <a:ext cx="864704" cy="419100"/>
          </a:xfrm>
        </p:spPr>
        <p:txBody>
          <a:bodyPr/>
          <a:lstStyle/>
          <a:p>
            <a:fld id="{2ABAD28B-DD56-4B56-883A-96608C765E28}" type="datetimeFigureOut">
              <a:rPr lang="en-US" smtClean="0"/>
              <a:pPr/>
              <a:t>9/25/2026</a:t>
            </a:fld>
            <a:endParaRPr lang="en-US" dirty="0"/>
          </a:p>
        </p:txBody>
      </p:sp>
      <p:sp>
        <p:nvSpPr>
          <p:cNvPr id="7" name="Slide Number Placeholder 5">
            <a:extLst>
              <a:ext uri="{FF2B5EF4-FFF2-40B4-BE49-F238E27FC236}">
                <a16:creationId xmlns:a16="http://schemas.microsoft.com/office/drawing/2014/main" id="{3C3F576B-887C-7B84-0990-9143EA6C6012}"/>
              </a:ext>
            </a:extLst>
          </p:cNvPr>
          <p:cNvSpPr>
            <a:spLocks noGrp="1"/>
          </p:cNvSpPr>
          <p:nvPr>
            <p:ph type="sldNum" sz="quarter" idx="12"/>
          </p:nvPr>
        </p:nvSpPr>
        <p:spPr>
          <a:xfrm>
            <a:off x="4310805" y="6438900"/>
            <a:ext cx="601436" cy="419100"/>
          </a:xfrm>
        </p:spPr>
        <p:txBody>
          <a:bodyPr/>
          <a:lstStyle/>
          <a:p>
            <a:fld id="{CC057153-B650-4DEB-B370-79DDCFDCE934}"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192232" y="0"/>
            <a:ext cx="6999768"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29163653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75ACA1F-D859-596B-9F50-F1E9A2654EAF}"/>
              </a:ext>
            </a:extLst>
          </p:cNvPr>
          <p:cNvSpPr>
            <a:spLocks noGrp="1"/>
          </p:cNvSpPr>
          <p:nvPr>
            <p:ph type="title"/>
          </p:nvPr>
        </p:nvSpPr>
        <p:spPr>
          <a:xfrm flipH="1">
            <a:off x="7894207" y="1112431"/>
            <a:ext cx="3230993" cy="1858941"/>
          </a:xfrm>
        </p:spPr>
        <p:txBody>
          <a:bodyPr anchor="t"/>
          <a:lstStyle/>
          <a:p>
            <a:r>
              <a:rPr lang="en-US"/>
              <a:t>Click to edit Master title style</a:t>
            </a:r>
            <a:endParaRPr lang="en-US" dirty="0"/>
          </a:p>
        </p:txBody>
      </p:sp>
      <p:sp>
        <p:nvSpPr>
          <p:cNvPr id="2" name="Picture Placeholder 9">
            <a:extLst>
              <a:ext uri="{FF2B5EF4-FFF2-40B4-BE49-F238E27FC236}">
                <a16:creationId xmlns:a16="http://schemas.microsoft.com/office/drawing/2014/main" id="{2A43D9F3-C10E-5B48-BB59-16A8600BD36F}"/>
              </a:ext>
            </a:extLst>
          </p:cNvPr>
          <p:cNvSpPr>
            <a:spLocks noGrp="1"/>
          </p:cNvSpPr>
          <p:nvPr>
            <p:ph type="pic" sz="quarter" idx="13" hasCustomPrompt="1"/>
          </p:nvPr>
        </p:nvSpPr>
        <p:spPr>
          <a:xfrm>
            <a:off x="12192" y="0"/>
            <a:ext cx="7481777"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4" name="Content Placeholder 7">
            <a:extLst>
              <a:ext uri="{FF2B5EF4-FFF2-40B4-BE49-F238E27FC236}">
                <a16:creationId xmlns:a16="http://schemas.microsoft.com/office/drawing/2014/main" id="{2E10F120-2F5B-B2FD-DB40-683E6176C3D4}"/>
              </a:ext>
            </a:extLst>
          </p:cNvPr>
          <p:cNvSpPr>
            <a:spLocks noGrp="1"/>
          </p:cNvSpPr>
          <p:nvPr>
            <p:ph sz="quarter" idx="15"/>
          </p:nvPr>
        </p:nvSpPr>
        <p:spPr>
          <a:xfrm>
            <a:off x="7901280" y="3133255"/>
            <a:ext cx="3223920" cy="2656250"/>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0" name="Straight Connector 19">
            <a:extLst>
              <a:ext uri="{FF2B5EF4-FFF2-40B4-BE49-F238E27FC236}">
                <a16:creationId xmlns:a16="http://schemas.microsoft.com/office/drawing/2014/main" id="{C9A12B08-97E1-66BD-9B69-377E28512750}"/>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9EACEEC7-E0DC-ABF5-188B-5636A17BD6A4}"/>
              </a:ext>
            </a:extLst>
          </p:cNvPr>
          <p:cNvSpPr>
            <a:spLocks noGrp="1"/>
          </p:cNvSpPr>
          <p:nvPr>
            <p:ph type="ftr" sz="quarter" idx="11"/>
          </p:nvPr>
        </p:nvSpPr>
        <p:spPr>
          <a:xfrm>
            <a:off x="7894207" y="6438900"/>
            <a:ext cx="1666482" cy="419100"/>
          </a:xfrm>
        </p:spPr>
        <p:txBody>
          <a:bodyPr/>
          <a:lstStyle/>
          <a:p>
            <a:r>
              <a:rPr lang="en-US"/>
              <a:t>Sample footer text</a:t>
            </a:r>
            <a:endParaRPr lang="en-US" dirty="0"/>
          </a:p>
        </p:txBody>
      </p:sp>
      <p:sp>
        <p:nvSpPr>
          <p:cNvPr id="8" name="Date Placeholder 4">
            <a:extLst>
              <a:ext uri="{FF2B5EF4-FFF2-40B4-BE49-F238E27FC236}">
                <a16:creationId xmlns:a16="http://schemas.microsoft.com/office/drawing/2014/main" id="{D0A24C6D-468E-EAE9-2363-772EA5E51DD0}"/>
              </a:ext>
            </a:extLst>
          </p:cNvPr>
          <p:cNvSpPr>
            <a:spLocks noGrp="1"/>
          </p:cNvSpPr>
          <p:nvPr>
            <p:ph type="dt" sz="half" idx="16"/>
          </p:nvPr>
        </p:nvSpPr>
        <p:spPr>
          <a:xfrm>
            <a:off x="9650896" y="6438900"/>
            <a:ext cx="864704" cy="419100"/>
          </a:xfrm>
        </p:spPr>
        <p:txBody>
          <a:bodyPr/>
          <a:lstStyle/>
          <a:p>
            <a:endParaRPr lang="en-US" dirty="0"/>
          </a:p>
        </p:txBody>
      </p:sp>
      <p:sp>
        <p:nvSpPr>
          <p:cNvPr id="9" name="Slide Number Placeholder 5">
            <a:extLst>
              <a:ext uri="{FF2B5EF4-FFF2-40B4-BE49-F238E27FC236}">
                <a16:creationId xmlns:a16="http://schemas.microsoft.com/office/drawing/2014/main" id="{C4C85811-EF51-7552-5F12-17748D280645}"/>
              </a:ext>
            </a:extLst>
          </p:cNvPr>
          <p:cNvSpPr>
            <a:spLocks noGrp="1"/>
          </p:cNvSpPr>
          <p:nvPr>
            <p:ph type="sldNum" sz="quarter" idx="12"/>
          </p:nvPr>
        </p:nvSpPr>
        <p:spPr>
          <a:xfrm>
            <a:off x="10523764" y="6438900"/>
            <a:ext cx="601436" cy="419100"/>
          </a:xfr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0204796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15324" y="3987802"/>
            <a:ext cx="3044954" cy="2309785"/>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5935" y="3987802"/>
            <a:ext cx="7460029" cy="2309785"/>
          </a:xfrm>
        </p:spPr>
        <p:txBody>
          <a:bodyPr vert="horz" lIns="91440" tIns="45720" rIns="91440" bIns="45720" rtlCol="0" anchor="t">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4C699AE1-DA01-C4DA-C5BE-8DD9BE13F668}"/>
              </a:ext>
              <a:ext uri="{C183D7F6-B498-43B3-948B-1728B52AA6E4}">
                <adec:decorative xmlns:adec="http://schemas.microsoft.com/office/drawing/2017/decorative" val="1"/>
              </a:ext>
            </a:extLst>
          </p:cNvPr>
          <p:cNvCxnSpPr>
            <a:cxnSpLocks/>
          </p:cNvCxnSpPr>
          <p:nvPr/>
        </p:nvCxnSpPr>
        <p:spPr>
          <a:xfrm>
            <a:off x="0" y="41150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9373F0BC-3C5E-8E58-AFDC-804E1C1C7617}"/>
              </a:ext>
            </a:extLst>
          </p:cNvPr>
          <p:cNvSpPr>
            <a:spLocks noGrp="1"/>
          </p:cNvSpPr>
          <p:nvPr>
            <p:ph type="dt" sz="half" idx="15"/>
          </p:nvPr>
        </p:nvSpPr>
        <p:spPr/>
        <p:txBody>
          <a:bodyPr/>
          <a:lstStyle/>
          <a:p>
            <a:endParaRPr lang="en-US" dirty="0"/>
          </a:p>
        </p:txBody>
      </p:sp>
      <p:sp>
        <p:nvSpPr>
          <p:cNvPr id="9" name="Footer Placeholder 8">
            <a:extLst>
              <a:ext uri="{FF2B5EF4-FFF2-40B4-BE49-F238E27FC236}">
                <a16:creationId xmlns:a16="http://schemas.microsoft.com/office/drawing/2014/main" id="{E6E5C888-EE74-5D59-47AA-40A53F60011B}"/>
              </a:ext>
            </a:extLst>
          </p:cNvPr>
          <p:cNvSpPr>
            <a:spLocks noGrp="1"/>
          </p:cNvSpPr>
          <p:nvPr>
            <p:ph type="ftr" sz="quarter" idx="16"/>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4794CA46-7ABA-FF39-20BD-C83B4F6D957B}"/>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055444196"/>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85BA164-9326-7934-95DF-A6AAB3F4258D}"/>
              </a:ext>
            </a:extLst>
          </p:cNvPr>
          <p:cNvSpPr>
            <a:spLocks noGrp="1"/>
          </p:cNvSpPr>
          <p:nvPr>
            <p:ph type="title"/>
          </p:nvPr>
        </p:nvSpPr>
        <p:spPr>
          <a:xfrm>
            <a:off x="1090940" y="1120990"/>
            <a:ext cx="10477320" cy="969264"/>
          </a:xfrm>
        </p:spPr>
        <p:txBody>
          <a:bodyPr anchor="t">
            <a:noAutofit/>
          </a:bodyPr>
          <a:lstStyle>
            <a:lvl1pPr>
              <a:defRPr sz="36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 y="2286008"/>
            <a:ext cx="6096000" cy="4571992"/>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91745" y="2286008"/>
            <a:ext cx="4876515" cy="40004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5FB0BF8A-7D94-1C82-F661-F1B7A93A4359}"/>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1988C72B-1D4E-3882-C750-7F965F6E7BC7}"/>
              </a:ext>
            </a:extLst>
          </p:cNvPr>
          <p:cNvSpPr>
            <a:spLocks noGrp="1"/>
          </p:cNvSpPr>
          <p:nvPr>
            <p:ph type="ftr" sz="quarter" idx="16"/>
          </p:nvPr>
        </p:nvSpPr>
        <p:spPr>
          <a:xfrm>
            <a:off x="6691744" y="6438900"/>
            <a:ext cx="2959151" cy="419100"/>
          </a:xfrm>
        </p:spPr>
        <p:txBody>
          <a:bodyPr/>
          <a:lstStyle/>
          <a:p>
            <a:r>
              <a:rPr lang="en-US"/>
              <a:t>Sample footer text</a:t>
            </a:r>
            <a:endParaRPr lang="en-US" dirty="0"/>
          </a:p>
        </p:txBody>
      </p:sp>
      <p:sp>
        <p:nvSpPr>
          <p:cNvPr id="2" name="Date Placeholder 1">
            <a:extLst>
              <a:ext uri="{FF2B5EF4-FFF2-40B4-BE49-F238E27FC236}">
                <a16:creationId xmlns:a16="http://schemas.microsoft.com/office/drawing/2014/main" id="{4914FA71-0863-B2C8-8E42-C0A1F133DC69}"/>
              </a:ext>
            </a:extLst>
          </p:cNvPr>
          <p:cNvSpPr>
            <a:spLocks noGrp="1"/>
          </p:cNvSpPr>
          <p:nvPr>
            <p:ph type="dt" sz="half" idx="15"/>
          </p:nvPr>
        </p:nvSpPr>
        <p:spPr/>
        <p:txBody>
          <a:bodyPr/>
          <a:lstStyle/>
          <a:p>
            <a:endParaRPr lang="en-US" dirty="0"/>
          </a:p>
        </p:txBody>
      </p:sp>
      <p:sp>
        <p:nvSpPr>
          <p:cNvPr id="6" name="Slide Number Placeholder 5">
            <a:extLst>
              <a:ext uri="{FF2B5EF4-FFF2-40B4-BE49-F238E27FC236}">
                <a16:creationId xmlns:a16="http://schemas.microsoft.com/office/drawing/2014/main" id="{4CD6C2E8-E8FC-5DC8-863C-CF7823CD4AED}"/>
              </a:ext>
            </a:extLst>
          </p:cNvPr>
          <p:cNvSpPr>
            <a:spLocks noGrp="1"/>
          </p:cNvSpPr>
          <p:nvPr>
            <p:ph type="sldNum" sz="quarter" idx="17"/>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221346201"/>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243CE06-05E5-2B64-1E1C-8F81B788D099}"/>
              </a:ext>
            </a:extLst>
          </p:cNvPr>
          <p:cNvSpPr>
            <a:spLocks noGrp="1"/>
          </p:cNvSpPr>
          <p:nvPr>
            <p:ph type="title"/>
          </p:nvPr>
        </p:nvSpPr>
        <p:spPr>
          <a:xfrm>
            <a:off x="1090940" y="1122200"/>
            <a:ext cx="3696859" cy="1505157"/>
          </a:xfrm>
        </p:spPr>
        <p:txBody>
          <a:bodyPr anchor="t">
            <a:noAutofit/>
          </a:bodyPr>
          <a:lstStyle>
            <a:lvl1pPr>
              <a:defRPr sz="3600"/>
            </a:lvl1pPr>
          </a:lstStyle>
          <a:p>
            <a:r>
              <a:rPr lang="en-US"/>
              <a:t>Click to edit Master title style</a:t>
            </a:r>
            <a:endParaRPr lang="en-US" dirty="0"/>
          </a:p>
        </p:txBody>
      </p:sp>
      <p:sp>
        <p:nvSpPr>
          <p:cNvPr id="9" name="Picture Placeholder 10">
            <a:extLst>
              <a:ext uri="{FF2B5EF4-FFF2-40B4-BE49-F238E27FC236}">
                <a16:creationId xmlns:a16="http://schemas.microsoft.com/office/drawing/2014/main" id="{9ADE1102-BF4C-FC7C-22F6-B8453DE3B195}"/>
              </a:ext>
            </a:extLst>
          </p:cNvPr>
          <p:cNvSpPr>
            <a:spLocks noGrp="1"/>
          </p:cNvSpPr>
          <p:nvPr>
            <p:ph type="pic" sz="quarter" idx="13" hasCustomPrompt="1"/>
          </p:nvPr>
        </p:nvSpPr>
        <p:spPr>
          <a:xfrm>
            <a:off x="1181100" y="2840181"/>
            <a:ext cx="3606699" cy="3446317"/>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0" name="Content Placeholder 7">
            <a:extLst>
              <a:ext uri="{FF2B5EF4-FFF2-40B4-BE49-F238E27FC236}">
                <a16:creationId xmlns:a16="http://schemas.microsoft.com/office/drawing/2014/main" id="{6C8ACD7F-7B34-5741-6323-6829CFDA10C3}"/>
              </a:ext>
            </a:extLst>
          </p:cNvPr>
          <p:cNvSpPr>
            <a:spLocks noGrp="1"/>
          </p:cNvSpPr>
          <p:nvPr>
            <p:ph sz="quarter" idx="14"/>
          </p:nvPr>
        </p:nvSpPr>
        <p:spPr>
          <a:xfrm>
            <a:off x="5113673" y="1122201"/>
            <a:ext cx="6602291" cy="516429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12" name="Straight Connector 11">
            <a:extLst>
              <a:ext uri="{FF2B5EF4-FFF2-40B4-BE49-F238E27FC236}">
                <a16:creationId xmlns:a16="http://schemas.microsoft.com/office/drawing/2014/main" id="{B1322A97-1C32-A52E-951B-60B114B307A0}"/>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428346"/>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bg>
      <p:bgPr>
        <a:solidFill>
          <a:schemeClr val="tx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9AD5248-C0E5-8356-EB8F-904EDDA5FC95}"/>
              </a:ext>
            </a:extLst>
          </p:cNvPr>
          <p:cNvSpPr>
            <a:spLocks noGrp="1"/>
          </p:cNvSpPr>
          <p:nvPr>
            <p:ph type="title"/>
          </p:nvPr>
        </p:nvSpPr>
        <p:spPr>
          <a:xfrm>
            <a:off x="4647304" y="4757193"/>
            <a:ext cx="6477896" cy="1126554"/>
          </a:xfrm>
        </p:spPr>
        <p:txBody>
          <a:bodyPr anchor="b">
            <a:normAutofit/>
          </a:bodyPr>
          <a:lstStyle>
            <a:lvl1pPr algn="r">
              <a:defRPr sz="2000" b="0" cap="none" baseline="0">
                <a:solidFill>
                  <a:schemeClr val="bg1"/>
                </a:solidFill>
              </a:defRPr>
            </a:lvl1pPr>
          </a:lstStyle>
          <a:p>
            <a:r>
              <a:rPr lang="en-US"/>
              <a:t>Click to edit Master title style</a:t>
            </a:r>
          </a:p>
        </p:txBody>
      </p:sp>
      <p:sp>
        <p:nvSpPr>
          <p:cNvPr id="10" name="Content Placeholder 9">
            <a:extLst>
              <a:ext uri="{FF2B5EF4-FFF2-40B4-BE49-F238E27FC236}">
                <a16:creationId xmlns:a16="http://schemas.microsoft.com/office/drawing/2014/main" id="{A5F5F1C4-3BA4-0163-6A5F-9D95D58C7EA2}"/>
              </a:ext>
            </a:extLst>
          </p:cNvPr>
          <p:cNvSpPr>
            <a:spLocks noGrp="1"/>
          </p:cNvSpPr>
          <p:nvPr>
            <p:ph sz="quarter" idx="13" hasCustomPrompt="1"/>
          </p:nvPr>
        </p:nvSpPr>
        <p:spPr>
          <a:xfrm>
            <a:off x="82296" y="64008"/>
            <a:ext cx="12027408" cy="4600592"/>
          </a:xfrm>
        </p:spPr>
        <p:txBody>
          <a:bodyPr>
            <a:noAutofit/>
          </a:bodyPr>
          <a:lstStyle>
            <a:lvl1pPr>
              <a:lnSpc>
                <a:spcPct val="85000"/>
              </a:lnSpc>
              <a:defRPr sz="31000" b="1">
                <a:solidFill>
                  <a:schemeClr val="bg1"/>
                </a:solidFill>
              </a:defRPr>
            </a:lvl1pPr>
          </a:lstStyle>
          <a:p>
            <a:pPr lvl="0"/>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E5AD3D17-73C9-402C-91E7-BA73E6829C50}" type="datetime1">
              <a:rPr lang="en-US" smtClean="0"/>
              <a:pPr/>
              <a:t>9/25/2026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EA84DB20-94E7-1E79-B65B-67C6158DB14C}"/>
              </a:ext>
              <a:ext uri="{C183D7F6-B498-43B3-948B-1728B52AA6E4}">
                <adec:decorative xmlns:adec="http://schemas.microsoft.com/office/drawing/2017/decorative" val="1"/>
              </a:ext>
            </a:extLst>
          </p:cNvPr>
          <p:cNvCxnSpPr>
            <a:cxnSpLocks/>
          </p:cNvCxnSpPr>
          <p:nvPr/>
        </p:nvCxnSpPr>
        <p:spPr>
          <a:xfrm>
            <a:off x="11387805" y="5715000"/>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8250455"/>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86261"/>
            <a:ext cx="10652760" cy="1133856"/>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88136" y="1039095"/>
            <a:ext cx="9418320" cy="5070068"/>
          </a:xfrm>
        </p:spPr>
        <p:txBody>
          <a:bodyPr anchor="t">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77F2505C-CAED-34DC-7CD1-C57ADBBF98DD}"/>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4121393"/>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1" name="Title 9">
            <a:extLst>
              <a:ext uri="{FF2B5EF4-FFF2-40B4-BE49-F238E27FC236}">
                <a16:creationId xmlns:a16="http://schemas.microsoft.com/office/drawing/2014/main" id="{873E5EF9-EDC5-CB2D-000A-85BB4DB58221}"/>
              </a:ext>
            </a:extLst>
          </p:cNvPr>
          <p:cNvSpPr>
            <a:spLocks noGrp="1"/>
          </p:cNvSpPr>
          <p:nvPr>
            <p:ph type="title" hasCustomPrompt="1"/>
          </p:nvPr>
        </p:nvSpPr>
        <p:spPr>
          <a:xfrm>
            <a:off x="1066800" y="5418360"/>
            <a:ext cx="10058400" cy="466345"/>
          </a:xfrm>
        </p:spPr>
        <p:txBody>
          <a:bodyPr anchor="b">
            <a:normAutofit/>
          </a:bodyPr>
          <a:lstStyle>
            <a:lvl1pPr algn="r">
              <a:lnSpc>
                <a:spcPct val="100000"/>
              </a:lnSpc>
              <a:defRPr sz="2000" b="0" cap="none" baseline="0"/>
            </a:lvl1pPr>
          </a:lstStyle>
          <a:p>
            <a:r>
              <a:rPr lang="en-US" dirty="0"/>
              <a:t>Quote Author</a:t>
            </a:r>
          </a:p>
        </p:txBody>
      </p:sp>
      <p:sp>
        <p:nvSpPr>
          <p:cNvPr id="10" name="Content Placeholder 9">
            <a:extLst>
              <a:ext uri="{FF2B5EF4-FFF2-40B4-BE49-F238E27FC236}">
                <a16:creationId xmlns:a16="http://schemas.microsoft.com/office/drawing/2014/main" id="{E5D1FFC6-C597-BE81-1790-A08954F44C4B}"/>
              </a:ext>
            </a:extLst>
          </p:cNvPr>
          <p:cNvSpPr>
            <a:spLocks noGrp="1"/>
          </p:cNvSpPr>
          <p:nvPr>
            <p:ph sz="quarter" idx="13" hasCustomPrompt="1"/>
          </p:nvPr>
        </p:nvSpPr>
        <p:spPr>
          <a:xfrm>
            <a:off x="95250" y="63500"/>
            <a:ext cx="11977688" cy="5080000"/>
          </a:xfrm>
        </p:spPr>
        <p:txBody>
          <a:bodyPr>
            <a:normAutofit/>
          </a:bodyPr>
          <a:lstStyle>
            <a:lvl1pPr>
              <a:lnSpc>
                <a:spcPct val="85000"/>
              </a:lnSpc>
              <a:defRPr sz="8000" b="1" cap="all" baseline="0">
                <a:solidFill>
                  <a:schemeClr val="tx1"/>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1">
              <a:rPr lang="en-US" smtClean="0"/>
              <a:t>9/25/2026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52949BEA-90AC-BE5F-28A7-80D65BD19B42}"/>
              </a:ext>
              <a:ext uri="{C183D7F6-B498-43B3-948B-1728B52AA6E4}">
                <adec:decorative xmlns:adec="http://schemas.microsoft.com/office/drawing/2017/decorative" val="1"/>
              </a:ext>
            </a:extLst>
          </p:cNvPr>
          <p:cNvCxnSpPr>
            <a:cxnSpLocks/>
          </p:cNvCxnSpPr>
          <p:nvPr/>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4193085"/>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119132"/>
            <a:ext cx="9890066" cy="1204593"/>
          </a:xfrm>
        </p:spPr>
        <p:txBody>
          <a:bodyPr>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endParaRPr lang="en-US" dirty="0"/>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AB20CA7A-449A-6AC2-BFC5-17AF5007E7E1}"/>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2512953"/>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115329"/>
            <a:ext cx="9949455" cy="838856"/>
          </a:xfrm>
        </p:spPr>
        <p:txBody>
          <a:bodyPr>
            <a:normAutofit/>
          </a:bodyPr>
          <a:lstStyle>
            <a:lvl1pPr>
              <a:defRPr sz="36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r>
              <a:rPr lang="en-US"/>
              <a:t>Sample footer text</a:t>
            </a:r>
            <a:endParaRPr lang="en-US" dirty="0"/>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endParaRPr lang="en-US" dirty="0"/>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10" name="Straight Connector 9">
            <a:extLst>
              <a:ext uri="{FF2B5EF4-FFF2-40B4-BE49-F238E27FC236}">
                <a16:creationId xmlns:a16="http://schemas.microsoft.com/office/drawing/2014/main" id="{CDA35A86-E7F6-6593-119D-A6DC85581FEA}"/>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0760014"/>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a:xfrm>
            <a:off x="1088136" y="1104100"/>
            <a:ext cx="9922764" cy="1294228"/>
          </a:xfrm>
        </p:spPr>
        <p:txBody>
          <a:bodyPr>
            <a:normAutofit/>
          </a:bodyPr>
          <a:lstStyle>
            <a:lvl1pPr>
              <a:defRPr sz="3600" cap="none"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endParaRPr lang="en-US" dirty="0"/>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28CF7AFD-0570-B046-A2C2-3EFA873546CA}"/>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9688890"/>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23509271"/>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5"/>
            <a:ext cx="10627828" cy="2084551"/>
          </a:xfrm>
        </p:spPr>
        <p:txBody>
          <a:bodyPr anchor="t" anchorCtr="0">
            <a:noAutofit/>
          </a:bodyPr>
          <a:lstStyle>
            <a:lvl1pPr>
              <a:defRPr sz="6000" cap="all" baseline="0">
                <a:solidFill>
                  <a:schemeClr val="tx1"/>
                </a:solidFill>
              </a:defRPr>
            </a:lvl1pPr>
          </a:lstStyle>
          <a:p>
            <a:r>
              <a:rPr lang="en-US"/>
              <a:t>Click to edit Master title style</a:t>
            </a:r>
            <a:endParaRPr lang="en-US" dirty="0"/>
          </a:p>
        </p:txBody>
      </p:sp>
      <p:sp>
        <p:nvSpPr>
          <p:cNvPr id="7" name="Content Placeholder 7">
            <a:extLst>
              <a:ext uri="{FF2B5EF4-FFF2-40B4-BE49-F238E27FC236}">
                <a16:creationId xmlns:a16="http://schemas.microsoft.com/office/drawing/2014/main" id="{419A5DD2-B3B3-D9BF-1A71-B20742D142B9}"/>
              </a:ext>
            </a:extLst>
          </p:cNvPr>
          <p:cNvSpPr>
            <a:spLocks noGrp="1"/>
          </p:cNvSpPr>
          <p:nvPr>
            <p:ph sz="quarter" idx="13"/>
          </p:nvPr>
        </p:nvSpPr>
        <p:spPr>
          <a:xfrm>
            <a:off x="1088134" y="3276600"/>
            <a:ext cx="10627829" cy="3162300"/>
          </a:xfrm>
        </p:spPr>
        <p:txBody>
          <a:bodyPr/>
          <a:lstStyle>
            <a:lvl1pPr marL="0" indent="0">
              <a:lnSpc>
                <a:spcPct val="100000"/>
              </a:lnSpc>
              <a:buNone/>
              <a:defRPr>
                <a:solidFill>
                  <a:schemeClr val="tx1"/>
                </a:solidFill>
              </a:defRPr>
            </a:lvl1pPr>
            <a:lvl2pPr marL="228600" indent="0">
              <a:lnSpc>
                <a:spcPct val="100000"/>
              </a:lnSpc>
              <a:buNone/>
              <a:defRPr>
                <a:solidFill>
                  <a:schemeClr val="tx1"/>
                </a:solidFill>
              </a:defRPr>
            </a:lvl2pPr>
            <a:lvl3pPr marL="457200" indent="0">
              <a:lnSpc>
                <a:spcPct val="100000"/>
              </a:lnSpc>
              <a:buNone/>
              <a:defRPr>
                <a:solidFill>
                  <a:schemeClr val="tx1"/>
                </a:solidFill>
              </a:defRPr>
            </a:lvl3pPr>
            <a:lvl4pPr marL="685800" indent="0">
              <a:lnSpc>
                <a:spcPct val="100000"/>
              </a:lnSpc>
              <a:buNone/>
              <a:defRPr>
                <a:solidFill>
                  <a:schemeClr val="tx1"/>
                </a:solidFill>
              </a:defRPr>
            </a:lvl4pPr>
            <a:lvl5pPr marL="914400" indent="0">
              <a:lnSpc>
                <a:spcPct val="100000"/>
              </a:lnSpc>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6DCA1022-3377-EB7D-8261-EDD841636BE3}"/>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9876531"/>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6"/>
            <a:ext cx="8430767" cy="1842020"/>
          </a:xfrm>
        </p:spPr>
        <p:txBody>
          <a:bodyPr anchor="t" anchorCtr="0">
            <a:noAutofit/>
          </a:bodyPr>
          <a:lstStyle>
            <a:lvl1pPr>
              <a:defRPr sz="6000" cap="all" baseline="0">
                <a:solidFill>
                  <a:schemeClr val="tx1"/>
                </a:solidFill>
              </a:defRPr>
            </a:lvl1pPr>
          </a:lstStyle>
          <a:p>
            <a:r>
              <a:rPr lang="en-US"/>
              <a:t>Click to edit Master title style</a:t>
            </a:r>
            <a:endParaRPr lang="en-US" dirty="0"/>
          </a:p>
        </p:txBody>
      </p:sp>
      <p:sp>
        <p:nvSpPr>
          <p:cNvPr id="8" name="Content Placeholder 6">
            <a:extLst>
              <a:ext uri="{FF2B5EF4-FFF2-40B4-BE49-F238E27FC236}">
                <a16:creationId xmlns:a16="http://schemas.microsoft.com/office/drawing/2014/main" id="{C06F55DC-E754-4B2B-C0AE-962C82565D0D}"/>
              </a:ext>
            </a:extLst>
          </p:cNvPr>
          <p:cNvSpPr>
            <a:spLocks noGrp="1"/>
          </p:cNvSpPr>
          <p:nvPr>
            <p:ph sz="quarter" idx="14"/>
          </p:nvPr>
        </p:nvSpPr>
        <p:spPr>
          <a:xfrm>
            <a:off x="1077213" y="4246692"/>
            <a:ext cx="8430639" cy="1608008"/>
          </a:xfrm>
        </p:spPr>
        <p:txBody>
          <a:bodyPr anchor="b">
            <a:noAutofit/>
          </a:bodyPr>
          <a:lstStyle>
            <a:lvl1pPr marL="0" indent="0">
              <a:lnSpc>
                <a:spcPct val="100000"/>
              </a:lnSpc>
              <a:buNone/>
              <a:defRPr sz="2000">
                <a:solidFill>
                  <a:schemeClr val="tx1"/>
                </a:solidFill>
              </a:defRPr>
            </a:lvl1pPr>
            <a:lvl2pPr marL="228600" indent="0">
              <a:lnSpc>
                <a:spcPct val="100000"/>
              </a:lnSpc>
              <a:buNone/>
              <a:defRPr sz="2000">
                <a:solidFill>
                  <a:schemeClr val="tx1"/>
                </a:solidFill>
              </a:defRPr>
            </a:lvl2pPr>
            <a:lvl3pPr marL="457200" indent="0">
              <a:lnSpc>
                <a:spcPct val="100000"/>
              </a:lnSpc>
              <a:buNone/>
              <a:defRPr sz="2000">
                <a:solidFill>
                  <a:schemeClr val="tx1"/>
                </a:solidFill>
              </a:defRPr>
            </a:lvl3pPr>
            <a:lvl4pPr marL="685800" indent="0">
              <a:lnSpc>
                <a:spcPct val="100000"/>
              </a:lnSpc>
              <a:buNone/>
              <a:defRPr sz="2000">
                <a:solidFill>
                  <a:schemeClr val="tx1"/>
                </a:solidFill>
              </a:defRPr>
            </a:lvl4pPr>
            <a:lvl5pPr marL="914400" indent="0">
              <a:lnSpc>
                <a:spcPct val="100000"/>
              </a:lnSpc>
              <a:buNone/>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FC829929-F774-AF4E-F1BE-2DA3C43D0DAC}"/>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9618725"/>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0497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93598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119745"/>
            <a:ext cx="9922764" cy="416675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88136" y="6438900"/>
            <a:ext cx="8562760" cy="419100"/>
          </a:xfrm>
          <a:prstGeom prst="rect">
            <a:avLst/>
          </a:prstGeom>
        </p:spPr>
        <p:txBody>
          <a:bodyPr vert="horz" lIns="91440" tIns="45720" rIns="91440" bIns="45720" rtlCol="0" anchor="ctr"/>
          <a:lstStyle>
            <a:lvl1pPr algn="l" rtl="0">
              <a:defRPr sz="900">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9650896" y="6438900"/>
            <a:ext cx="864704" cy="419100"/>
          </a:xfrm>
          <a:prstGeom prst="rect">
            <a:avLst/>
          </a:prstGeom>
        </p:spPr>
        <p:txBody>
          <a:bodyPr vert="horz" lIns="91440" tIns="45720" rIns="91440" bIns="45720" rtlCol="0" anchor="ctr"/>
          <a:lstStyle>
            <a:lvl1pPr algn="l" rtl="0">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523764" y="6438900"/>
            <a:ext cx="601436" cy="419100"/>
          </a:xfrm>
          <a:prstGeom prst="rect">
            <a:avLst/>
          </a:prstGeom>
        </p:spPr>
        <p:txBody>
          <a:bodyPr vert="horz" lIns="91440" tIns="45720" rIns="91440" bIns="45720" rtlCol="0" anchor="ctr"/>
          <a:lstStyle>
            <a:lvl1pPr algn="r" rtl="0">
              <a:defRPr sz="900">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588750943"/>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 id="2147483768" r:id="rId18"/>
    <p:sldLayoutId id="2147483769" r:id="rId19"/>
    <p:sldLayoutId id="2147483770" r:id="rId20"/>
    <p:sldLayoutId id="2147483771" r:id="rId21"/>
    <p:sldLayoutId id="2147483772" r:id="rId22"/>
    <p:sldLayoutId id="2147483773" r:id="rId23"/>
    <p:sldLayoutId id="2147483774" r:id="rId24"/>
    <p:sldLayoutId id="2147483775" r:id="rId25"/>
    <p:sldLayoutId id="2147483776" r:id="rId26"/>
    <p:sldLayoutId id="2147483777" r:id="rId27"/>
    <p:sldLayoutId id="2147483778" r:id="rId28"/>
  </p:sldLayoutIdLst>
  <p:hf sldNum="0" hdr="0" ftr="0" dt="0"/>
  <p:txStyles>
    <p:titleStyle>
      <a:lvl1pPr algn="l" defTabSz="914400" rtl="0" eaLnBrk="1" latinLnBrk="0" hangingPunct="1">
        <a:lnSpc>
          <a:spcPct val="85000"/>
        </a:lnSpc>
        <a:spcBef>
          <a:spcPct val="0"/>
        </a:spcBef>
        <a:buNone/>
        <a:defRPr sz="3600" b="1" kern="1200" cap="all" baseline="0">
          <a:solidFill>
            <a:schemeClr val="tx1"/>
          </a:solidFill>
          <a:latin typeface="+mj-lt"/>
          <a:ea typeface="+mj-ea"/>
          <a:cs typeface="+mj-cs"/>
        </a:defRPr>
      </a:lvl1pPr>
    </p:titleStyle>
    <p:bodyStyle>
      <a:lvl1pPr marL="0" indent="0" algn="l" defTabSz="914400" rtl="0" eaLnBrk="1" latinLnBrk="0" hangingPunct="1">
        <a:lnSpc>
          <a:spcPct val="130000"/>
        </a:lnSpc>
        <a:spcBef>
          <a:spcPts val="0"/>
        </a:spcBef>
        <a:buFont typeface="Neue Haas Grotesk Text Pro" panose="020B0504020202020204" pitchFamily="34" charset="0"/>
        <a:buNone/>
        <a:defRPr sz="1600" kern="1200">
          <a:solidFill>
            <a:schemeClr val="tx1"/>
          </a:solidFill>
          <a:latin typeface="+mn-lt"/>
          <a:ea typeface="+mn-ea"/>
          <a:cs typeface="+mn-cs"/>
        </a:defRPr>
      </a:lvl1pPr>
      <a:lvl2pPr marL="5029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2pPr>
      <a:lvl3pPr marL="7315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4pPr>
      <a:lvl5pPr marL="128016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744">
          <p15:clr>
            <a:srgbClr val="F26B43"/>
          </p15:clr>
        </p15:guide>
        <p15:guide id="6">
          <p15:clr>
            <a:srgbClr val="F26B43"/>
          </p15:clr>
        </p15:guide>
        <p15:guide id="8" pos="6936">
          <p15:clr>
            <a:srgbClr val="F26B43"/>
          </p15:clr>
        </p15:guide>
        <p15:guide id="10" orient="horz" pos="720">
          <p15:clr>
            <a:srgbClr val="F26B43"/>
          </p15:clr>
        </p15:guide>
        <p15:guide id="14" pos="6624">
          <p15:clr>
            <a:srgbClr val="F26B43"/>
          </p15:clr>
        </p15:guide>
        <p15:guide id="22" orient="horz" pos="360">
          <p15:clr>
            <a:srgbClr val="F26B43"/>
          </p15:clr>
        </p15:guide>
        <p15:guide id="23" orient="horz" pos="3960">
          <p15:clr>
            <a:srgbClr val="F26B43"/>
          </p15:clr>
        </p15:guide>
        <p15:guide id="24" orient="horz" pos="2160">
          <p15:clr>
            <a:srgbClr val="F26B43"/>
          </p15:clr>
        </p15:guide>
        <p15:guide id="25" pos="7680">
          <p15:clr>
            <a:srgbClr val="F26B43"/>
          </p15:clr>
        </p15:guide>
        <p15:guide id="26" pos="3840">
          <p15:clr>
            <a:srgbClr val="F26B43"/>
          </p15:clr>
        </p15:guide>
        <p15:guide id="27" pos="6168">
          <p15:clr>
            <a:srgbClr val="F26B43"/>
          </p15:clr>
        </p15:guide>
        <p15:guide id="28" pos="672">
          <p15:clr>
            <a:srgbClr val="F26B43"/>
          </p15:clr>
        </p15:guide>
        <p15:guide id="29" pos="7008">
          <p15:clr>
            <a:srgbClr val="F26B43"/>
          </p15:clr>
        </p15:guide>
        <p15:guide id="30" orient="horz" pos="4056">
          <p15:clr>
            <a:srgbClr val="F26B43"/>
          </p15:clr>
        </p15:guide>
        <p15:guide id="31" orient="horz" pos="36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3" Type="http://schemas.openxmlformats.org/officeDocument/2006/relationships/hyperlink" Target="https://canvas.utwente.nl/courses/19086/pages/week-3-te1-dot-a-climate-risk-assessment?module_item_id=655382" TargetMode="External"/><Relationship Id="rId2" Type="http://schemas.openxmlformats.org/officeDocument/2006/relationships/notesSlide" Target="../notesSlides/notesSlide3.xml"/><Relationship Id="rId1" Type="http://schemas.openxmlformats.org/officeDocument/2006/relationships/slideLayout" Target="../slideLayouts/slideLayout28.xml"/><Relationship Id="rId5" Type="http://schemas.openxmlformats.org/officeDocument/2006/relationships/image" Target="../media/image7.png"/><Relationship Id="rId4" Type="http://schemas.openxmlformats.org/officeDocument/2006/relationships/hyperlink" Target="https://gadm.org/download_country.html" TargetMode="Externa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8.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8.xml"/><Relationship Id="rId5" Type="http://schemas.openxmlformats.org/officeDocument/2006/relationships/image" Target="../media/image13.png"/><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8.xml"/><Relationship Id="rId5" Type="http://schemas.openxmlformats.org/officeDocument/2006/relationships/image" Target="../media/image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5F2D"/>
        </a:solidFill>
        <a:effectLst/>
      </p:bgPr>
    </p:bg>
    <p:spTree>
      <p:nvGrpSpPr>
        <p:cNvPr id="1" name=""/>
        <p:cNvGrpSpPr/>
        <p:nvPr/>
      </p:nvGrpSpPr>
      <p:grpSpPr>
        <a:xfrm>
          <a:off x="0" y="0"/>
          <a:ext cx="0" cy="0"/>
          <a:chOff x="0" y="0"/>
          <a:chExt cx="0" cy="0"/>
        </a:xfrm>
      </p:grpSpPr>
      <p:sp>
        <p:nvSpPr>
          <p:cNvPr id="2" name="Text 0"/>
          <p:cNvSpPr txBox="1"/>
          <p:nvPr/>
        </p:nvSpPr>
        <p:spPr>
          <a:xfrm>
            <a:off x="731520" y="457199"/>
            <a:ext cx="10465870" cy="1732547"/>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Assessing Global Suitability for a Novel</a:t>
            </a:r>
            <a:r>
              <a:rPr lang="en-US" sz="3600" dirty="0"/>
              <a:t> </a:t>
            </a:r>
            <a:r>
              <a:rPr lang="en-US" sz="3600" b="1" dirty="0">
                <a:solidFill>
                  <a:srgbClr val="FFFFFF"/>
                </a:solidFill>
                <a:latin typeface="Cambria" pitchFamily="34" charset="0"/>
                <a:ea typeface="Cambria" pitchFamily="34" charset="-122"/>
                <a:cs typeface="Cambria" pitchFamily="34" charset="-120"/>
              </a:rPr>
              <a:t>Nut Tree</a:t>
            </a:r>
            <a:endParaRPr lang="en-US" sz="3600" dirty="0"/>
          </a:p>
        </p:txBody>
      </p:sp>
      <p:sp>
        <p:nvSpPr>
          <p:cNvPr id="3" name="Text 1"/>
          <p:cNvSpPr txBox="1"/>
          <p:nvPr/>
        </p:nvSpPr>
        <p:spPr>
          <a:xfrm>
            <a:off x="762000" y="1721105"/>
            <a:ext cx="10698480" cy="548640"/>
          </a:xfrm>
          <a:prstGeom prst="rect">
            <a:avLst/>
          </a:prstGeom>
          <a:noFill/>
          <a:ln/>
        </p:spPr>
        <p:txBody>
          <a:bodyPr wrap="square" rtlCol="0" anchor="ctr"/>
          <a:lstStyle/>
          <a:p>
            <a:pPr marL="0" indent="0">
              <a:buNone/>
            </a:pPr>
            <a:r>
              <a:rPr lang="en-US" sz="2000" dirty="0" err="1">
                <a:solidFill>
                  <a:srgbClr val="CADCC2"/>
                </a:solidFill>
                <a:latin typeface="Calibri" pitchFamily="34" charset="0"/>
                <a:ea typeface="Calibri" pitchFamily="34" charset="-122"/>
                <a:cs typeface="Calibri" pitchFamily="34" charset="-120"/>
              </a:rPr>
              <a:t>EcoCrop</a:t>
            </a:r>
            <a:r>
              <a:rPr lang="en-US" sz="2000" dirty="0">
                <a:solidFill>
                  <a:srgbClr val="CADCC2"/>
                </a:solidFill>
                <a:latin typeface="Calibri" pitchFamily="34" charset="0"/>
                <a:ea typeface="Calibri" pitchFamily="34" charset="-122"/>
                <a:cs typeface="Calibri" pitchFamily="34" charset="-120"/>
              </a:rPr>
              <a:t>-based climate suitability modelling in Portugal, Peru, Vietnam and Tanzania</a:t>
            </a:r>
            <a:endParaRPr lang="en-US" sz="2000" dirty="0"/>
          </a:p>
        </p:txBody>
      </p:sp>
      <p:sp>
        <p:nvSpPr>
          <p:cNvPr id="4" name="Text 2"/>
          <p:cNvSpPr txBox="1"/>
          <p:nvPr/>
        </p:nvSpPr>
        <p:spPr>
          <a:xfrm>
            <a:off x="1827690" y="6059103"/>
            <a:ext cx="10698480" cy="365760"/>
          </a:xfrm>
          <a:prstGeom prst="rect">
            <a:avLst/>
          </a:prstGeom>
          <a:noFill/>
          <a:ln/>
        </p:spPr>
        <p:txBody>
          <a:bodyPr wrap="square" rtlCol="0" anchor="ctr"/>
          <a:lstStyle/>
          <a:p>
            <a:pPr marL="0" indent="0">
              <a:buNone/>
            </a:pPr>
            <a:r>
              <a:rPr lang="en-US" sz="1300" dirty="0">
                <a:solidFill>
                  <a:srgbClr val="9FBB8F"/>
                </a:solidFill>
                <a:latin typeface="Calibri" pitchFamily="34" charset="0"/>
                <a:ea typeface="Calibri" pitchFamily="34" charset="-122"/>
                <a:cs typeface="Calibri" pitchFamily="34" charset="-120"/>
              </a:rPr>
              <a:t>Spatial System and Society, Crop Suitability Modelling, 2026</a:t>
            </a:r>
            <a:endParaRPr lang="en-US" sz="1300" dirty="0"/>
          </a:p>
        </p:txBody>
      </p:sp>
      <p:sp>
        <p:nvSpPr>
          <p:cNvPr id="6" name="TextBox 5">
            <a:extLst>
              <a:ext uri="{FF2B5EF4-FFF2-40B4-BE49-F238E27FC236}">
                <a16:creationId xmlns:a16="http://schemas.microsoft.com/office/drawing/2014/main" id="{980B7F88-B4F3-3FE7-F33D-5FA9B10282E7}"/>
              </a:ext>
            </a:extLst>
          </p:cNvPr>
          <p:cNvSpPr txBox="1"/>
          <p:nvPr/>
        </p:nvSpPr>
        <p:spPr>
          <a:xfrm>
            <a:off x="731520" y="4112265"/>
            <a:ext cx="6535554" cy="646331"/>
          </a:xfrm>
          <a:prstGeom prst="rect">
            <a:avLst/>
          </a:prstGeom>
          <a:noFill/>
        </p:spPr>
        <p:txBody>
          <a:bodyPr wrap="square">
            <a:spAutoFit/>
          </a:bodyPr>
          <a:lstStyle/>
          <a:p>
            <a:r>
              <a:rPr lang="en-US" dirty="0">
                <a:solidFill>
                  <a:srgbClr val="9FBB8F"/>
                </a:solidFill>
                <a:latin typeface="Calibri" pitchFamily="34" charset="0"/>
                <a:ea typeface="Calibri" pitchFamily="34" charset="-122"/>
                <a:cs typeface="Calibri" pitchFamily="34" charset="-120"/>
              </a:rPr>
              <a:t>Submitted by, </a:t>
            </a:r>
          </a:p>
          <a:p>
            <a:r>
              <a:rPr lang="en-US" dirty="0">
                <a:solidFill>
                  <a:srgbClr val="9FBB8F"/>
                </a:solidFill>
                <a:latin typeface="Calibri" pitchFamily="34" charset="0"/>
                <a:ea typeface="Calibri" pitchFamily="34" charset="-122"/>
                <a:cs typeface="Calibri" pitchFamily="34" charset="-120"/>
              </a:rPr>
              <a:t>Md. Nashid Kamal Sifat </a:t>
            </a:r>
            <a:endParaRPr lang="en-NL" dirty="0"/>
          </a:p>
        </p:txBody>
      </p:sp>
      <p:sp>
        <p:nvSpPr>
          <p:cNvPr id="10" name="Text 1">
            <a:extLst>
              <a:ext uri="{FF2B5EF4-FFF2-40B4-BE49-F238E27FC236}">
                <a16:creationId xmlns:a16="http://schemas.microsoft.com/office/drawing/2014/main" id="{866C4B58-66FA-52EC-03D6-24A1C1DC2A35}"/>
              </a:ext>
            </a:extLst>
          </p:cNvPr>
          <p:cNvSpPr txBox="1"/>
          <p:nvPr/>
        </p:nvSpPr>
        <p:spPr>
          <a:xfrm>
            <a:off x="746760" y="2602365"/>
            <a:ext cx="10698480" cy="548640"/>
          </a:xfrm>
          <a:prstGeom prst="rect">
            <a:avLst/>
          </a:prstGeom>
          <a:noFill/>
          <a:ln/>
        </p:spPr>
        <p:txBody>
          <a:bodyPr wrap="square" rtlCol="0" anchor="ctr"/>
          <a:lstStyle/>
          <a:p>
            <a:pPr marL="0" indent="0">
              <a:buNone/>
            </a:pPr>
            <a:r>
              <a:rPr lang="en-US" sz="2400" dirty="0">
                <a:solidFill>
                  <a:srgbClr val="CADCC2"/>
                </a:solidFill>
                <a:latin typeface="Calibri" pitchFamily="34" charset="0"/>
                <a:ea typeface="Calibri" pitchFamily="34" charset="-122"/>
                <a:cs typeface="Calibri" pitchFamily="34" charset="-120"/>
              </a:rPr>
              <a:t>Climate Risk Assessment</a:t>
            </a:r>
          </a:p>
          <a:p>
            <a:pPr marL="0" indent="0">
              <a:buNone/>
            </a:pPr>
            <a:r>
              <a:rPr lang="en-US" sz="2400" dirty="0">
                <a:solidFill>
                  <a:srgbClr val="CADCC2"/>
                </a:solidFill>
                <a:latin typeface="Calibri" pitchFamily="34" charset="0"/>
                <a:ea typeface="Calibri" pitchFamily="34" charset="-122"/>
                <a:cs typeface="Calibri" pitchFamily="34" charset="-120"/>
              </a:rPr>
              <a:t>Case Study - C </a:t>
            </a:r>
            <a:endParaRPr lang="en-US" sz="2400" dirty="0"/>
          </a:p>
        </p:txBody>
      </p:sp>
      <p:pic>
        <p:nvPicPr>
          <p:cNvPr id="16" name="Picture 15">
            <a:extLst>
              <a:ext uri="{FF2B5EF4-FFF2-40B4-BE49-F238E27FC236}">
                <a16:creationId xmlns:a16="http://schemas.microsoft.com/office/drawing/2014/main" id="{5637A084-F23B-95B4-F844-AE2F57039047}"/>
              </a:ext>
            </a:extLst>
          </p:cNvPr>
          <p:cNvPicPr>
            <a:picLocks noChangeAspect="1"/>
          </p:cNvPicPr>
          <p:nvPr/>
        </p:nvPicPr>
        <p:blipFill>
          <a:blip r:embed="rId3"/>
          <a:stretch>
            <a:fillRect/>
          </a:stretch>
        </p:blipFill>
        <p:spPr>
          <a:xfrm>
            <a:off x="762000" y="5789348"/>
            <a:ext cx="857143" cy="85714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0972800" cy="320040"/>
          </a:xfrm>
          <a:prstGeom prst="rect">
            <a:avLst/>
          </a:prstGeom>
          <a:noFill/>
          <a:ln/>
        </p:spPr>
        <p:txBody>
          <a:bodyPr wrap="square" rtlCol="0" anchor="ctr"/>
          <a:lstStyle/>
          <a:p>
            <a:pPr marL="0" indent="0">
              <a:buNone/>
            </a:pPr>
            <a:r>
              <a:rPr lang="en-US" sz="1200" b="1" kern="0" spc="200" dirty="0">
                <a:solidFill>
                  <a:srgbClr val="6E9B4F"/>
                </a:solidFill>
                <a:latin typeface="Calibri" pitchFamily="34" charset="0"/>
                <a:ea typeface="Calibri" pitchFamily="34" charset="-122"/>
                <a:cs typeface="Calibri" pitchFamily="34" charset="-120"/>
              </a:rPr>
              <a:t>PROJECT BACKGROUND</a:t>
            </a:r>
            <a:endParaRPr lang="en-US" sz="1200" dirty="0"/>
          </a:p>
        </p:txBody>
      </p:sp>
      <p:sp>
        <p:nvSpPr>
          <p:cNvPr id="3" name="Text 1"/>
          <p:cNvSpPr txBox="1"/>
          <p:nvPr/>
        </p:nvSpPr>
        <p:spPr>
          <a:xfrm>
            <a:off x="548640" y="594360"/>
            <a:ext cx="10972800" cy="640080"/>
          </a:xfrm>
          <a:prstGeom prst="rect">
            <a:avLst/>
          </a:prstGeom>
          <a:noFill/>
          <a:ln/>
        </p:spPr>
        <p:txBody>
          <a:bodyPr wrap="square" rtlCol="0" anchor="ctr"/>
          <a:lstStyle/>
          <a:p>
            <a:pPr marL="0" indent="0">
              <a:buNone/>
            </a:pPr>
            <a:r>
              <a:rPr lang="en-US" sz="3000" b="1" dirty="0">
                <a:solidFill>
                  <a:srgbClr val="2C5F2D"/>
                </a:solidFill>
                <a:latin typeface="Cambria" pitchFamily="34" charset="0"/>
                <a:ea typeface="Cambria" pitchFamily="34" charset="-122"/>
                <a:cs typeface="Cambria" pitchFamily="34" charset="-120"/>
              </a:rPr>
              <a:t>A grain-replacing tree crop, piloted across four countries</a:t>
            </a:r>
            <a:endParaRPr lang="en-US" sz="3000" dirty="0"/>
          </a:p>
        </p:txBody>
      </p:sp>
      <p:sp>
        <p:nvSpPr>
          <p:cNvPr id="4" name="Text 2"/>
          <p:cNvSpPr txBox="1"/>
          <p:nvPr/>
        </p:nvSpPr>
        <p:spPr>
          <a:xfrm>
            <a:off x="579120" y="1336239"/>
            <a:ext cx="11064240" cy="702336"/>
          </a:xfrm>
          <a:prstGeom prst="rect">
            <a:avLst/>
          </a:prstGeom>
          <a:noFill/>
          <a:ln/>
        </p:spPr>
        <p:txBody>
          <a:bodyPr wrap="square" rtlCol="0" anchor="ctr"/>
          <a:lstStyle/>
          <a:p>
            <a:pPr algn="just">
              <a:spcAft>
                <a:spcPts val="800"/>
              </a:spcAft>
            </a:pPr>
            <a:r>
              <a:rPr lang="en-US" sz="1400" dirty="0">
                <a:solidFill>
                  <a:srgbClr val="333333"/>
                </a:solidFill>
                <a:latin typeface="Calibri" pitchFamily="34" charset="0"/>
                <a:ea typeface="Calibri" pitchFamily="34" charset="-122"/>
                <a:cs typeface="Calibri" pitchFamily="34" charset="-120"/>
              </a:rPr>
              <a:t>A biotech company from Netherlands has developed a nut-producing tree that yields 4 to 8 times more than maize or wheat, is more nutrient-dense, and sequesters carbon, but takes 4 years to first production. The task is to Identify where, and what percentage of national area, this tree could be grown, as a pilot across Portugal, Peru, Vietnam and Tanzania, using its lab-derived environmental tolerances. </a:t>
            </a:r>
            <a:endParaRPr lang="en-US" sz="1400" dirty="0"/>
          </a:p>
          <a:p>
            <a:pPr marL="0" indent="0" algn="just">
              <a:spcAft>
                <a:spcPts val="800"/>
              </a:spcAft>
              <a:buNone/>
            </a:pPr>
            <a:endParaRPr lang="en-US" sz="1400" dirty="0"/>
          </a:p>
        </p:txBody>
      </p:sp>
      <p:sp>
        <p:nvSpPr>
          <p:cNvPr id="5" name="Text 3"/>
          <p:cNvSpPr txBox="1"/>
          <p:nvPr/>
        </p:nvSpPr>
        <p:spPr>
          <a:xfrm>
            <a:off x="670560" y="3338020"/>
            <a:ext cx="6949440" cy="1280160"/>
          </a:xfrm>
          <a:prstGeom prst="rect">
            <a:avLst/>
          </a:prstGeom>
          <a:noFill/>
          <a:ln/>
        </p:spPr>
        <p:txBody>
          <a:bodyPr wrap="square" rtlCol="0" anchor="ctr"/>
          <a:lstStyle/>
          <a:p>
            <a:pPr algn="just"/>
            <a:endParaRPr lang="en-US" sz="2000" dirty="0"/>
          </a:p>
        </p:txBody>
      </p:sp>
      <p:sp>
        <p:nvSpPr>
          <p:cNvPr id="12" name="Shape 10"/>
          <p:cNvSpPr/>
          <p:nvPr/>
        </p:nvSpPr>
        <p:spPr>
          <a:xfrm>
            <a:off x="670560" y="2548099"/>
            <a:ext cx="5276248" cy="1642560"/>
          </a:xfrm>
          <a:prstGeom prst="rect">
            <a:avLst/>
          </a:prstGeom>
          <a:solidFill>
            <a:srgbClr val="F7F7F2"/>
          </a:solidFill>
          <a:ln/>
        </p:spPr>
        <p:txBody>
          <a:bodyPr/>
          <a:lstStyle/>
          <a:p>
            <a:endParaRPr lang="en-NL"/>
          </a:p>
        </p:txBody>
      </p:sp>
      <p:sp>
        <p:nvSpPr>
          <p:cNvPr id="13" name="Text 11"/>
          <p:cNvSpPr txBox="1"/>
          <p:nvPr/>
        </p:nvSpPr>
        <p:spPr>
          <a:xfrm>
            <a:off x="670560" y="2445122"/>
            <a:ext cx="3474720" cy="640080"/>
          </a:xfrm>
          <a:prstGeom prst="rect">
            <a:avLst/>
          </a:prstGeom>
          <a:noFill/>
          <a:ln/>
        </p:spPr>
        <p:txBody>
          <a:bodyPr wrap="square" rtlCol="0" anchor="ctr"/>
          <a:lstStyle/>
          <a:p>
            <a:pPr marL="0" indent="0">
              <a:buNone/>
            </a:pPr>
            <a:r>
              <a:rPr lang="en-US" sz="1400" dirty="0"/>
              <a:t>Portugal</a:t>
            </a:r>
          </a:p>
        </p:txBody>
      </p:sp>
      <p:sp>
        <p:nvSpPr>
          <p:cNvPr id="14" name="Text 12"/>
          <p:cNvSpPr txBox="1"/>
          <p:nvPr/>
        </p:nvSpPr>
        <p:spPr>
          <a:xfrm>
            <a:off x="670561" y="2818738"/>
            <a:ext cx="5276247" cy="1280160"/>
          </a:xfrm>
          <a:prstGeom prst="rect">
            <a:avLst/>
          </a:prstGeom>
          <a:noFill/>
          <a:ln/>
        </p:spPr>
        <p:txBody>
          <a:bodyPr wrap="square" rtlCol="0" anchor="ctr"/>
          <a:lstStyle/>
          <a:p>
            <a:pPr algn="just"/>
            <a:r>
              <a:rPr lang="en-NL" sz="1200" dirty="0"/>
              <a:t>Mediterranean climate</a:t>
            </a:r>
            <a:r>
              <a:rPr lang="en-US" sz="1200" dirty="0"/>
              <a:t>,</a:t>
            </a:r>
            <a:r>
              <a:rPr lang="en-NL" sz="1200" dirty="0"/>
              <a:t> hot, dry summers with a structural rainfall gap of several months. And mild, wet winters. Agriculture is dominated by drought-tolerant tree crops olives, cork oak, vineyards, citrus precisely because few crops can sustain continuous moisture through the dry season</a:t>
            </a:r>
            <a:endParaRPr lang="en-US" sz="1200" dirty="0"/>
          </a:p>
        </p:txBody>
      </p:sp>
      <p:pic>
        <p:nvPicPr>
          <p:cNvPr id="20" name="Picture 19">
            <a:extLst>
              <a:ext uri="{FF2B5EF4-FFF2-40B4-BE49-F238E27FC236}">
                <a16:creationId xmlns:a16="http://schemas.microsoft.com/office/drawing/2014/main" id="{E0D83C68-6045-EFC4-D3D9-3FE31B665E4E}"/>
              </a:ext>
            </a:extLst>
          </p:cNvPr>
          <p:cNvPicPr>
            <a:picLocks noChangeAspect="1"/>
          </p:cNvPicPr>
          <p:nvPr/>
        </p:nvPicPr>
        <p:blipFill>
          <a:blip r:embed="rId3">
            <a:duotone>
              <a:prstClr val="black"/>
              <a:srgbClr val="FFFFFF">
                <a:tint val="45000"/>
                <a:satMod val="400000"/>
              </a:srgbClr>
            </a:duotone>
          </a:blip>
          <a:stretch>
            <a:fillRect/>
          </a:stretch>
        </p:blipFill>
        <p:spPr>
          <a:xfrm>
            <a:off x="1524" y="6000857"/>
            <a:ext cx="857143" cy="857143"/>
          </a:xfrm>
          <a:prstGeom prst="rect">
            <a:avLst/>
          </a:prstGeom>
        </p:spPr>
      </p:pic>
      <p:sp>
        <p:nvSpPr>
          <p:cNvPr id="40" name="Shape 10">
            <a:extLst>
              <a:ext uri="{FF2B5EF4-FFF2-40B4-BE49-F238E27FC236}">
                <a16:creationId xmlns:a16="http://schemas.microsoft.com/office/drawing/2014/main" id="{26DEDF76-DA1A-F06F-B151-69DEA7B163A9}"/>
              </a:ext>
            </a:extLst>
          </p:cNvPr>
          <p:cNvSpPr/>
          <p:nvPr/>
        </p:nvSpPr>
        <p:spPr>
          <a:xfrm>
            <a:off x="670560" y="4458373"/>
            <a:ext cx="5276248" cy="1642559"/>
          </a:xfrm>
          <a:prstGeom prst="rect">
            <a:avLst/>
          </a:prstGeom>
          <a:solidFill>
            <a:srgbClr val="F7F7F2"/>
          </a:solidFill>
          <a:ln/>
        </p:spPr>
        <p:txBody>
          <a:bodyPr/>
          <a:lstStyle/>
          <a:p>
            <a:endParaRPr lang="en-NL"/>
          </a:p>
        </p:txBody>
      </p:sp>
      <p:sp>
        <p:nvSpPr>
          <p:cNvPr id="42" name="Text 11">
            <a:extLst>
              <a:ext uri="{FF2B5EF4-FFF2-40B4-BE49-F238E27FC236}">
                <a16:creationId xmlns:a16="http://schemas.microsoft.com/office/drawing/2014/main" id="{8A7BAC93-8769-DA56-4E95-7A0BD228B7CD}"/>
              </a:ext>
            </a:extLst>
          </p:cNvPr>
          <p:cNvSpPr txBox="1"/>
          <p:nvPr/>
        </p:nvSpPr>
        <p:spPr>
          <a:xfrm>
            <a:off x="704247" y="4360514"/>
            <a:ext cx="3474720" cy="640080"/>
          </a:xfrm>
          <a:prstGeom prst="rect">
            <a:avLst/>
          </a:prstGeom>
          <a:noFill/>
          <a:ln/>
        </p:spPr>
        <p:txBody>
          <a:bodyPr wrap="square" rtlCol="0" anchor="ctr"/>
          <a:lstStyle/>
          <a:p>
            <a:pPr marL="0" indent="0">
              <a:buNone/>
            </a:pPr>
            <a:r>
              <a:rPr lang="en-US" sz="1400" dirty="0"/>
              <a:t>Vietnam</a:t>
            </a:r>
          </a:p>
        </p:txBody>
      </p:sp>
      <p:sp>
        <p:nvSpPr>
          <p:cNvPr id="44" name="Text 12">
            <a:extLst>
              <a:ext uri="{FF2B5EF4-FFF2-40B4-BE49-F238E27FC236}">
                <a16:creationId xmlns:a16="http://schemas.microsoft.com/office/drawing/2014/main" id="{FB59E698-5B47-2AB4-A4C0-69B0D921C1A2}"/>
              </a:ext>
            </a:extLst>
          </p:cNvPr>
          <p:cNvSpPr txBox="1"/>
          <p:nvPr/>
        </p:nvSpPr>
        <p:spPr>
          <a:xfrm>
            <a:off x="670558" y="4675436"/>
            <a:ext cx="5276247" cy="1280160"/>
          </a:xfrm>
          <a:prstGeom prst="rect">
            <a:avLst/>
          </a:prstGeom>
          <a:noFill/>
          <a:ln/>
        </p:spPr>
        <p:txBody>
          <a:bodyPr wrap="square" rtlCol="0" anchor="ctr"/>
          <a:lstStyle/>
          <a:p>
            <a:pPr algn="just"/>
            <a:r>
              <a:rPr lang="en-NL" sz="1200" dirty="0"/>
              <a:t>North-to-south climatic gradient</a:t>
            </a:r>
            <a:r>
              <a:rPr lang="en-US" sz="1200" dirty="0"/>
              <a:t>,</a:t>
            </a:r>
            <a:r>
              <a:rPr lang="en-NL" sz="1200" dirty="0"/>
              <a:t> the north has a distinct cool winter (sometimes &lt;15°C), while the south is tropical but has a pronounced dry season (Nov–April).</a:t>
            </a:r>
            <a:r>
              <a:rPr lang="en-US" sz="1200" dirty="0"/>
              <a:t> </a:t>
            </a:r>
            <a:r>
              <a:rPr lang="en-NL" sz="1200" b="1" dirty="0"/>
              <a:t>Lâm </a:t>
            </a:r>
            <a:r>
              <a:rPr lang="en-NL" sz="1200" b="1" dirty="0" err="1"/>
              <a:t>Đồng</a:t>
            </a:r>
            <a:r>
              <a:rPr lang="en-NL" sz="1200" dirty="0"/>
              <a:t>, sits in the Central Highlands</a:t>
            </a:r>
            <a:r>
              <a:rPr lang="en-US" sz="1200" dirty="0"/>
              <a:t>,</a:t>
            </a:r>
            <a:r>
              <a:rPr lang="en-NL" sz="1200" dirty="0"/>
              <a:t> a cooler, wetter upland pocket atypical of the rest of the country</a:t>
            </a:r>
            <a:endParaRPr lang="en-US" sz="1200" dirty="0"/>
          </a:p>
        </p:txBody>
      </p:sp>
      <p:sp>
        <p:nvSpPr>
          <p:cNvPr id="46" name="Shape 10">
            <a:extLst>
              <a:ext uri="{FF2B5EF4-FFF2-40B4-BE49-F238E27FC236}">
                <a16:creationId xmlns:a16="http://schemas.microsoft.com/office/drawing/2014/main" id="{C9F72820-A5D6-086B-B0B9-A35826031942}"/>
              </a:ext>
            </a:extLst>
          </p:cNvPr>
          <p:cNvSpPr/>
          <p:nvPr/>
        </p:nvSpPr>
        <p:spPr>
          <a:xfrm>
            <a:off x="6336632" y="2549703"/>
            <a:ext cx="5276248" cy="1640956"/>
          </a:xfrm>
          <a:prstGeom prst="rect">
            <a:avLst/>
          </a:prstGeom>
          <a:solidFill>
            <a:srgbClr val="F7F7F2"/>
          </a:solidFill>
          <a:ln/>
        </p:spPr>
        <p:txBody>
          <a:bodyPr/>
          <a:lstStyle/>
          <a:p>
            <a:endParaRPr lang="en-NL"/>
          </a:p>
        </p:txBody>
      </p:sp>
      <p:sp>
        <p:nvSpPr>
          <p:cNvPr id="48" name="Text 11">
            <a:extLst>
              <a:ext uri="{FF2B5EF4-FFF2-40B4-BE49-F238E27FC236}">
                <a16:creationId xmlns:a16="http://schemas.microsoft.com/office/drawing/2014/main" id="{5AF8EE8F-8017-AD24-417A-2A7356591748}"/>
              </a:ext>
            </a:extLst>
          </p:cNvPr>
          <p:cNvSpPr txBox="1"/>
          <p:nvPr/>
        </p:nvSpPr>
        <p:spPr>
          <a:xfrm>
            <a:off x="6336632" y="2446155"/>
            <a:ext cx="3474720" cy="640080"/>
          </a:xfrm>
          <a:prstGeom prst="rect">
            <a:avLst/>
          </a:prstGeom>
          <a:noFill/>
          <a:ln/>
        </p:spPr>
        <p:txBody>
          <a:bodyPr wrap="square" rtlCol="0" anchor="ctr"/>
          <a:lstStyle/>
          <a:p>
            <a:pPr marL="0" indent="0">
              <a:buNone/>
            </a:pPr>
            <a:r>
              <a:rPr lang="en-US" sz="1400" dirty="0"/>
              <a:t>Peru</a:t>
            </a:r>
          </a:p>
        </p:txBody>
      </p:sp>
      <p:sp>
        <p:nvSpPr>
          <p:cNvPr id="50" name="Text 12">
            <a:extLst>
              <a:ext uri="{FF2B5EF4-FFF2-40B4-BE49-F238E27FC236}">
                <a16:creationId xmlns:a16="http://schemas.microsoft.com/office/drawing/2014/main" id="{F6832992-34D5-EDAA-C580-E3E8E2534F55}"/>
              </a:ext>
            </a:extLst>
          </p:cNvPr>
          <p:cNvSpPr txBox="1"/>
          <p:nvPr/>
        </p:nvSpPr>
        <p:spPr>
          <a:xfrm>
            <a:off x="6336633" y="2823451"/>
            <a:ext cx="5276247" cy="1280160"/>
          </a:xfrm>
          <a:prstGeom prst="rect">
            <a:avLst/>
          </a:prstGeom>
          <a:noFill/>
          <a:ln/>
        </p:spPr>
        <p:txBody>
          <a:bodyPr wrap="square" rtlCol="0" anchor="ctr"/>
          <a:lstStyle/>
          <a:p>
            <a:pPr algn="just"/>
            <a:r>
              <a:rPr lang="en-NL" sz="1200" dirty="0"/>
              <a:t>Extraordinary climatic diversity in one country</a:t>
            </a:r>
            <a:r>
              <a:rPr lang="en-US" sz="1200" dirty="0"/>
              <a:t>,</a:t>
            </a:r>
            <a:r>
              <a:rPr lang="en-NL" sz="1200" dirty="0"/>
              <a:t> coastal desert, high Andes </a:t>
            </a:r>
            <a:r>
              <a:rPr lang="en-US" sz="1200" dirty="0"/>
              <a:t>with </a:t>
            </a:r>
            <a:r>
              <a:rPr lang="en-NL" sz="1200" dirty="0"/>
              <a:t>cold, thin air, and Amazon lowlands </a:t>
            </a:r>
            <a:r>
              <a:rPr lang="en-US" sz="1200" dirty="0"/>
              <a:t>with </a:t>
            </a:r>
            <a:r>
              <a:rPr lang="en-NL" sz="1200" dirty="0"/>
              <a:t>hot, humid, </a:t>
            </a:r>
            <a:r>
              <a:rPr lang="en-US" sz="1200" dirty="0"/>
              <a:t>heavy </a:t>
            </a:r>
            <a:r>
              <a:rPr lang="en-NL" sz="1200" dirty="0"/>
              <a:t>rainfall</a:t>
            </a:r>
            <a:r>
              <a:rPr lang="en-US" sz="1200" dirty="0"/>
              <a:t> and</a:t>
            </a:r>
            <a:r>
              <a:rPr lang="en-NL" sz="1200" dirty="0"/>
              <a:t> no real dry season. the Amazon basin provinces </a:t>
            </a:r>
            <a:r>
              <a:rPr lang="en-US" sz="1200" dirty="0"/>
              <a:t>have </a:t>
            </a:r>
            <a:r>
              <a:rPr lang="en-NL" sz="1200" dirty="0"/>
              <a:t>tropical, consistently-wet profile, while coastal desert and high-altitude Andean provinces </a:t>
            </a:r>
            <a:r>
              <a:rPr lang="en-US" sz="1200" dirty="0"/>
              <a:t>are </a:t>
            </a:r>
            <a:r>
              <a:rPr lang="en-NL" sz="1200" dirty="0"/>
              <a:t>too dry </a:t>
            </a:r>
            <a:r>
              <a:rPr lang="en-US" sz="1200" dirty="0"/>
              <a:t>and</a:t>
            </a:r>
            <a:r>
              <a:rPr lang="en-NL" sz="1200" dirty="0"/>
              <a:t> too cold</a:t>
            </a:r>
            <a:r>
              <a:rPr lang="en-US" sz="1200" dirty="0"/>
              <a:t>.</a:t>
            </a:r>
          </a:p>
        </p:txBody>
      </p:sp>
      <p:sp>
        <p:nvSpPr>
          <p:cNvPr id="52" name="Shape 10">
            <a:extLst>
              <a:ext uri="{FF2B5EF4-FFF2-40B4-BE49-F238E27FC236}">
                <a16:creationId xmlns:a16="http://schemas.microsoft.com/office/drawing/2014/main" id="{81A2B9F8-3EAE-A083-9D30-A929E342087F}"/>
              </a:ext>
            </a:extLst>
          </p:cNvPr>
          <p:cNvSpPr/>
          <p:nvPr/>
        </p:nvSpPr>
        <p:spPr>
          <a:xfrm>
            <a:off x="6336632" y="4458374"/>
            <a:ext cx="5276248" cy="1642558"/>
          </a:xfrm>
          <a:prstGeom prst="rect">
            <a:avLst/>
          </a:prstGeom>
          <a:solidFill>
            <a:srgbClr val="F7F7F2"/>
          </a:solidFill>
          <a:ln/>
        </p:spPr>
        <p:txBody>
          <a:bodyPr/>
          <a:lstStyle/>
          <a:p>
            <a:endParaRPr lang="en-NL"/>
          </a:p>
        </p:txBody>
      </p:sp>
      <p:sp>
        <p:nvSpPr>
          <p:cNvPr id="54" name="Text 11">
            <a:extLst>
              <a:ext uri="{FF2B5EF4-FFF2-40B4-BE49-F238E27FC236}">
                <a16:creationId xmlns:a16="http://schemas.microsoft.com/office/drawing/2014/main" id="{FB2B253A-00AE-1359-824E-CF78E90F0386}"/>
              </a:ext>
            </a:extLst>
          </p:cNvPr>
          <p:cNvSpPr txBox="1"/>
          <p:nvPr/>
        </p:nvSpPr>
        <p:spPr>
          <a:xfrm>
            <a:off x="6336633" y="4355396"/>
            <a:ext cx="3474720" cy="640080"/>
          </a:xfrm>
          <a:prstGeom prst="rect">
            <a:avLst/>
          </a:prstGeom>
          <a:noFill/>
          <a:ln/>
        </p:spPr>
        <p:txBody>
          <a:bodyPr wrap="square" rtlCol="0" anchor="ctr"/>
          <a:lstStyle/>
          <a:p>
            <a:pPr marL="0" indent="0">
              <a:buNone/>
            </a:pPr>
            <a:r>
              <a:rPr lang="en-US" sz="1400" dirty="0"/>
              <a:t>Tanzania</a:t>
            </a:r>
          </a:p>
        </p:txBody>
      </p:sp>
      <p:sp>
        <p:nvSpPr>
          <p:cNvPr id="56" name="Text 12">
            <a:extLst>
              <a:ext uri="{FF2B5EF4-FFF2-40B4-BE49-F238E27FC236}">
                <a16:creationId xmlns:a16="http://schemas.microsoft.com/office/drawing/2014/main" id="{FB7E5DBF-7799-EBF1-8A42-02B3EE2F9809}"/>
              </a:ext>
            </a:extLst>
          </p:cNvPr>
          <p:cNvSpPr txBox="1"/>
          <p:nvPr/>
        </p:nvSpPr>
        <p:spPr>
          <a:xfrm>
            <a:off x="6336631" y="4618180"/>
            <a:ext cx="5276247" cy="1280160"/>
          </a:xfrm>
          <a:prstGeom prst="rect">
            <a:avLst/>
          </a:prstGeom>
          <a:noFill/>
          <a:ln/>
        </p:spPr>
        <p:txBody>
          <a:bodyPr wrap="square" rtlCol="0" anchor="ctr"/>
          <a:lstStyle/>
          <a:p>
            <a:pPr algn="just"/>
            <a:r>
              <a:rPr lang="en-NL" sz="1200" dirty="0"/>
              <a:t>Mostly semi-arid to sub-humid savanna climate with a pronounced dry season across most of the country. Kagera, borders Lake Victoria in the northwest, which creates a distinct lake-effect humid microclimate wetter and more consistent than the rest</a:t>
            </a:r>
            <a:r>
              <a:rPr lang="en-US" sz="1200" dirty="0"/>
              <a:t>.</a:t>
            </a:r>
          </a:p>
        </p:txBody>
      </p:sp>
      <p:sp>
        <p:nvSpPr>
          <p:cNvPr id="58" name="Text 2">
            <a:extLst>
              <a:ext uri="{FF2B5EF4-FFF2-40B4-BE49-F238E27FC236}">
                <a16:creationId xmlns:a16="http://schemas.microsoft.com/office/drawing/2014/main" id="{BF55C01F-FC1D-F500-935B-98CAC00878BB}"/>
              </a:ext>
            </a:extLst>
          </p:cNvPr>
          <p:cNvSpPr txBox="1"/>
          <p:nvPr/>
        </p:nvSpPr>
        <p:spPr>
          <a:xfrm>
            <a:off x="579120" y="1964033"/>
            <a:ext cx="6858000" cy="320040"/>
          </a:xfrm>
          <a:prstGeom prst="rect">
            <a:avLst/>
          </a:prstGeom>
          <a:noFill/>
          <a:ln/>
        </p:spPr>
        <p:txBody>
          <a:bodyPr wrap="square" rtlCol="0" anchor="ctr"/>
          <a:lstStyle/>
          <a:p>
            <a:pPr marL="0" indent="0">
              <a:buNone/>
            </a:pPr>
            <a:r>
              <a:rPr lang="en-US" sz="1600" b="1" dirty="0">
                <a:solidFill>
                  <a:srgbClr val="2C5F2D"/>
                </a:solidFill>
                <a:latin typeface="Calibri" pitchFamily="34" charset="0"/>
                <a:ea typeface="Calibri" pitchFamily="34" charset="-122"/>
                <a:cs typeface="Calibri" pitchFamily="34" charset="-120"/>
              </a:rPr>
              <a:t>Brief Climate Context of the four selected countries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1" name="Shape 5">
            <a:extLst>
              <a:ext uri="{FF2B5EF4-FFF2-40B4-BE49-F238E27FC236}">
                <a16:creationId xmlns:a16="http://schemas.microsoft.com/office/drawing/2014/main" id="{0D640448-9D4D-DB7C-2A4A-EDBE7DB851BE}"/>
              </a:ext>
            </a:extLst>
          </p:cNvPr>
          <p:cNvSpPr/>
          <p:nvPr/>
        </p:nvSpPr>
        <p:spPr>
          <a:xfrm>
            <a:off x="7716667" y="4027832"/>
            <a:ext cx="3994069" cy="2235807"/>
          </a:xfrm>
          <a:prstGeom prst="rect">
            <a:avLst/>
          </a:prstGeom>
          <a:solidFill>
            <a:srgbClr val="F7F7F2"/>
          </a:solidFill>
          <a:ln/>
        </p:spPr>
        <p:txBody>
          <a:bodyPr/>
          <a:lstStyle/>
          <a:p>
            <a:endParaRPr lang="en-NL" dirty="0"/>
          </a:p>
        </p:txBody>
      </p:sp>
      <p:sp>
        <p:nvSpPr>
          <p:cNvPr id="8" name="Shape 5"/>
          <p:cNvSpPr/>
          <p:nvPr/>
        </p:nvSpPr>
        <p:spPr>
          <a:xfrm>
            <a:off x="7716667" y="1810260"/>
            <a:ext cx="3994069" cy="1915505"/>
          </a:xfrm>
          <a:prstGeom prst="rect">
            <a:avLst/>
          </a:prstGeom>
          <a:solidFill>
            <a:srgbClr val="F7F7F2"/>
          </a:solidFill>
          <a:ln/>
        </p:spPr>
        <p:txBody>
          <a:bodyPr/>
          <a:lstStyle/>
          <a:p>
            <a:endParaRPr lang="en-NL"/>
          </a:p>
        </p:txBody>
      </p:sp>
      <p:sp>
        <p:nvSpPr>
          <p:cNvPr id="2" name="Text 0"/>
          <p:cNvSpPr txBox="1"/>
          <p:nvPr/>
        </p:nvSpPr>
        <p:spPr>
          <a:xfrm>
            <a:off x="548640" y="320040"/>
            <a:ext cx="10972800" cy="320040"/>
          </a:xfrm>
          <a:prstGeom prst="rect">
            <a:avLst/>
          </a:prstGeom>
          <a:noFill/>
          <a:ln/>
        </p:spPr>
        <p:txBody>
          <a:bodyPr wrap="square" rtlCol="0" anchor="ctr"/>
          <a:lstStyle/>
          <a:p>
            <a:pPr marL="0" indent="0">
              <a:buNone/>
            </a:pPr>
            <a:r>
              <a:rPr lang="en-US" sz="1200" b="1" kern="0" spc="200" dirty="0">
                <a:solidFill>
                  <a:srgbClr val="6E9B4F"/>
                </a:solidFill>
                <a:latin typeface="Calibri" pitchFamily="34" charset="0"/>
                <a:ea typeface="Calibri" pitchFamily="34" charset="-122"/>
                <a:cs typeface="Calibri" pitchFamily="34" charset="-120"/>
              </a:rPr>
              <a:t>METHODOLOGY</a:t>
            </a:r>
            <a:endParaRPr lang="en-US" sz="1200" dirty="0"/>
          </a:p>
        </p:txBody>
      </p:sp>
      <p:sp>
        <p:nvSpPr>
          <p:cNvPr id="3" name="Text 1"/>
          <p:cNvSpPr txBox="1"/>
          <p:nvPr/>
        </p:nvSpPr>
        <p:spPr>
          <a:xfrm>
            <a:off x="548640" y="594360"/>
            <a:ext cx="10972800" cy="640080"/>
          </a:xfrm>
          <a:prstGeom prst="rect">
            <a:avLst/>
          </a:prstGeom>
          <a:noFill/>
          <a:ln/>
        </p:spPr>
        <p:txBody>
          <a:bodyPr wrap="square" rtlCol="0" anchor="ctr"/>
          <a:lstStyle/>
          <a:p>
            <a:pPr marL="0" indent="0">
              <a:buNone/>
            </a:pPr>
            <a:r>
              <a:rPr lang="en-US" sz="3000" b="1" dirty="0">
                <a:solidFill>
                  <a:srgbClr val="2C5F2D"/>
                </a:solidFill>
                <a:latin typeface="Cambria" pitchFamily="34" charset="0"/>
                <a:ea typeface="Cambria" pitchFamily="34" charset="-122"/>
                <a:cs typeface="Cambria" pitchFamily="34" charset="-120"/>
              </a:rPr>
              <a:t>EcoCrop limiting-factor model (Recocrop, R)</a:t>
            </a:r>
            <a:endParaRPr lang="en-US" sz="3000" dirty="0"/>
          </a:p>
        </p:txBody>
      </p:sp>
      <p:sp>
        <p:nvSpPr>
          <p:cNvPr id="4" name="Text 2"/>
          <p:cNvSpPr txBox="1"/>
          <p:nvPr/>
        </p:nvSpPr>
        <p:spPr>
          <a:xfrm>
            <a:off x="548640" y="1417320"/>
            <a:ext cx="6858000" cy="320040"/>
          </a:xfrm>
          <a:prstGeom prst="rect">
            <a:avLst/>
          </a:prstGeom>
          <a:noFill/>
          <a:ln/>
        </p:spPr>
        <p:txBody>
          <a:bodyPr wrap="square" rtlCol="0" anchor="ctr"/>
          <a:lstStyle/>
          <a:p>
            <a:pPr marL="0" indent="0">
              <a:buNone/>
            </a:pPr>
            <a:r>
              <a:rPr lang="en-US" sz="1600" b="1" dirty="0">
                <a:solidFill>
                  <a:srgbClr val="2C5F2D"/>
                </a:solidFill>
                <a:latin typeface="Calibri" pitchFamily="34" charset="0"/>
                <a:ea typeface="Calibri" pitchFamily="34" charset="-122"/>
                <a:cs typeface="Calibri" pitchFamily="34" charset="-120"/>
              </a:rPr>
              <a:t>Crop environmental thresholds (as supplied by the company)</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937488226"/>
              </p:ext>
            </p:extLst>
          </p:nvPr>
        </p:nvGraphicFramePr>
        <p:xfrm>
          <a:off x="661740" y="1804335"/>
          <a:ext cx="6380744" cy="1828800"/>
        </p:xfrm>
        <a:graphic>
          <a:graphicData uri="http://schemas.openxmlformats.org/drawingml/2006/table">
            <a:tbl>
              <a:tblPr/>
              <a:tblGrid>
                <a:gridCol w="1595186">
                  <a:extLst>
                    <a:ext uri="{9D8B030D-6E8A-4147-A177-3AD203B41FA5}">
                      <a16:colId xmlns:a16="http://schemas.microsoft.com/office/drawing/2014/main" val="20000"/>
                    </a:ext>
                  </a:extLst>
                </a:gridCol>
                <a:gridCol w="1595186">
                  <a:extLst>
                    <a:ext uri="{9D8B030D-6E8A-4147-A177-3AD203B41FA5}">
                      <a16:colId xmlns:a16="http://schemas.microsoft.com/office/drawing/2014/main" val="20001"/>
                    </a:ext>
                  </a:extLst>
                </a:gridCol>
                <a:gridCol w="1595186">
                  <a:extLst>
                    <a:ext uri="{9D8B030D-6E8A-4147-A177-3AD203B41FA5}">
                      <a16:colId xmlns:a16="http://schemas.microsoft.com/office/drawing/2014/main" val="20002"/>
                    </a:ext>
                  </a:extLst>
                </a:gridCol>
                <a:gridCol w="1595186">
                  <a:extLst>
                    <a:ext uri="{9D8B030D-6E8A-4147-A177-3AD203B41FA5}">
                      <a16:colId xmlns:a16="http://schemas.microsoft.com/office/drawing/2014/main" val="20003"/>
                    </a:ext>
                  </a:extLst>
                </a:gridCol>
              </a:tblGrid>
              <a:tr h="36576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Duration (days)</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solidFill>
                      <a:srgbClr val="2C5F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Ktmp (°C)</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solidFill>
                      <a:srgbClr val="2C5F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Tavg (°C)</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solidFill>
                      <a:srgbClr val="2C5F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Rainfall (mm/mo)</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365760">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230</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80</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155</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Inf</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27</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279</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340</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Inf</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36</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535</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3"/>
          <p:cNvSpPr txBox="1"/>
          <p:nvPr/>
        </p:nvSpPr>
        <p:spPr>
          <a:xfrm>
            <a:off x="858667" y="4434840"/>
            <a:ext cx="7624813" cy="457200"/>
          </a:xfrm>
          <a:prstGeom prst="rect">
            <a:avLst/>
          </a:prstGeom>
          <a:noFill/>
          <a:ln/>
        </p:spPr>
        <p:txBody>
          <a:bodyPr wrap="square" rtlCol="0" anchor="ctr"/>
          <a:lstStyle/>
          <a:p>
            <a:r>
              <a:rPr lang="en-US" sz="1400" b="1" dirty="0">
                <a:solidFill>
                  <a:srgbClr val="2C5F2D"/>
                </a:solidFill>
                <a:latin typeface="Calibri" pitchFamily="34" charset="0"/>
                <a:ea typeface="Calibri" pitchFamily="34" charset="-122"/>
                <a:cs typeface="Calibri" pitchFamily="34" charset="-120"/>
              </a:rPr>
              <a:t>Data sources:  </a:t>
            </a:r>
            <a:br>
              <a:rPr lang="en-US" sz="1400" b="1" dirty="0">
                <a:solidFill>
                  <a:srgbClr val="2C5F2D"/>
                </a:solidFill>
                <a:latin typeface="Calibri" pitchFamily="34" charset="0"/>
                <a:ea typeface="Calibri" pitchFamily="34" charset="-122"/>
                <a:cs typeface="Calibri" pitchFamily="34" charset="-120"/>
              </a:rPr>
            </a:br>
            <a:r>
              <a:rPr lang="en-US" sz="1400" b="1" dirty="0">
                <a:solidFill>
                  <a:srgbClr val="2C5F2D"/>
                </a:solidFill>
                <a:latin typeface="Calibri" pitchFamily="34" charset="0"/>
                <a:ea typeface="Calibri" pitchFamily="34" charset="-122"/>
                <a:cs typeface="Calibri" pitchFamily="34" charset="-120"/>
              </a:rPr>
              <a:t>Climate data: </a:t>
            </a:r>
            <a:r>
              <a:rPr lang="en-US" sz="1400" dirty="0" err="1">
                <a:solidFill>
                  <a:srgbClr val="333333"/>
                </a:solidFill>
                <a:latin typeface="Calibri" pitchFamily="34" charset="0"/>
                <a:ea typeface="Calibri" pitchFamily="34" charset="-122"/>
                <a:cs typeface="Calibri" pitchFamily="34" charset="-120"/>
              </a:rPr>
              <a:t>WorldClim</a:t>
            </a:r>
            <a:r>
              <a:rPr lang="en-US" sz="1400" dirty="0">
                <a:solidFill>
                  <a:srgbClr val="333333"/>
                </a:solidFill>
                <a:latin typeface="Calibri" pitchFamily="34" charset="0"/>
                <a:ea typeface="Calibri" pitchFamily="34" charset="-122"/>
                <a:cs typeface="Calibri" pitchFamily="34" charset="-120"/>
              </a:rPr>
              <a:t> v2.1 (2.5 arc-min monthly precipitation &amp; temperature)</a:t>
            </a:r>
            <a:br>
              <a:rPr lang="en-US" sz="1400" dirty="0">
                <a:solidFill>
                  <a:srgbClr val="333333"/>
                </a:solidFill>
                <a:latin typeface="Calibri" pitchFamily="34" charset="0"/>
                <a:ea typeface="Calibri" pitchFamily="34" charset="-122"/>
                <a:cs typeface="Calibri" pitchFamily="34" charset="-120"/>
              </a:rPr>
            </a:br>
            <a:r>
              <a:rPr lang="en-US" sz="1400" dirty="0">
                <a:solidFill>
                  <a:srgbClr val="333333"/>
                </a:solidFill>
                <a:latin typeface="Calibri" pitchFamily="34" charset="0"/>
                <a:ea typeface="Calibri" pitchFamily="34" charset="-122"/>
                <a:cs typeface="Calibri" pitchFamily="34" charset="-120"/>
                <a:hlinkClick r:id="rId3"/>
              </a:rPr>
              <a:t>https://canvas.utwente.nl/courses/19086/pages/week-3-te1-dot-a-climate-risk-assessment?module_item_id=655382 </a:t>
            </a:r>
            <a:endParaRPr lang="en-US" sz="1400" dirty="0">
              <a:solidFill>
                <a:srgbClr val="333333"/>
              </a:solidFill>
              <a:latin typeface="Calibri" pitchFamily="34" charset="0"/>
              <a:ea typeface="Calibri" pitchFamily="34" charset="-122"/>
              <a:cs typeface="Calibri" pitchFamily="34" charset="-120"/>
            </a:endParaRPr>
          </a:p>
          <a:p>
            <a:r>
              <a:rPr lang="en-US" sz="1400" b="1" dirty="0">
                <a:solidFill>
                  <a:srgbClr val="2C5F2D"/>
                </a:solidFill>
                <a:latin typeface="Calibri" pitchFamily="34" charset="0"/>
                <a:ea typeface="Calibri" pitchFamily="34" charset="-122"/>
                <a:cs typeface="Calibri" pitchFamily="34" charset="-120"/>
              </a:rPr>
              <a:t>Soil pH: </a:t>
            </a:r>
            <a:r>
              <a:rPr lang="en-US" sz="1400" dirty="0" err="1">
                <a:solidFill>
                  <a:srgbClr val="333333"/>
                </a:solidFill>
                <a:latin typeface="Calibri" pitchFamily="34" charset="0"/>
                <a:ea typeface="Calibri" pitchFamily="34" charset="-122"/>
                <a:cs typeface="Calibri" pitchFamily="34" charset="-120"/>
              </a:rPr>
              <a:t>SoilGrids</a:t>
            </a:r>
            <a:r>
              <a:rPr lang="en-US" sz="1400" dirty="0">
                <a:solidFill>
                  <a:srgbClr val="333333"/>
                </a:solidFill>
                <a:latin typeface="Calibri" pitchFamily="34" charset="0"/>
                <a:ea typeface="Calibri" pitchFamily="34" charset="-122"/>
                <a:cs typeface="Calibri" pitchFamily="34" charset="-120"/>
              </a:rPr>
              <a:t> (0–5cm pH) · geoBoundaries administrative units </a:t>
            </a:r>
            <a:br>
              <a:rPr lang="en-US" sz="1400" dirty="0">
                <a:solidFill>
                  <a:srgbClr val="333333"/>
                </a:solidFill>
                <a:latin typeface="Calibri" pitchFamily="34" charset="0"/>
                <a:ea typeface="Calibri" pitchFamily="34" charset="-122"/>
                <a:cs typeface="Calibri" pitchFamily="34" charset="-120"/>
              </a:rPr>
            </a:br>
            <a:r>
              <a:rPr lang="en-US" sz="1400" dirty="0">
                <a:solidFill>
                  <a:srgbClr val="333333"/>
                </a:solidFill>
                <a:latin typeface="Calibri" pitchFamily="34" charset="0"/>
                <a:ea typeface="Calibri" pitchFamily="34" charset="-122"/>
                <a:cs typeface="Calibri" pitchFamily="34" charset="-120"/>
                <a:hlinkClick r:id="rId3"/>
              </a:rPr>
              <a:t>https://canvas.utwente.nl/courses/19086/pages/week-3-te1-dot-a-climate-risk-assessment?module_item_id=655382</a:t>
            </a:r>
            <a:endParaRPr lang="en-US" sz="1400" dirty="0">
              <a:solidFill>
                <a:srgbClr val="333333"/>
              </a:solidFill>
              <a:latin typeface="Calibri" pitchFamily="34" charset="0"/>
              <a:ea typeface="Calibri" pitchFamily="34" charset="-122"/>
              <a:cs typeface="Calibri" pitchFamily="34" charset="-120"/>
            </a:endParaRPr>
          </a:p>
          <a:p>
            <a:r>
              <a:rPr lang="en-US" sz="1400" b="1" dirty="0">
                <a:solidFill>
                  <a:srgbClr val="2C5F2D"/>
                </a:solidFill>
                <a:latin typeface="Calibri" pitchFamily="34" charset="0"/>
                <a:ea typeface="Calibri" pitchFamily="34" charset="-122"/>
                <a:cs typeface="Calibri" pitchFamily="34" charset="-120"/>
              </a:rPr>
              <a:t>Boundary Shapes: </a:t>
            </a:r>
            <a:r>
              <a:rPr lang="en-US" sz="1400" dirty="0">
                <a:solidFill>
                  <a:srgbClr val="333333"/>
                </a:solidFill>
                <a:latin typeface="Calibri" pitchFamily="34" charset="0"/>
                <a:ea typeface="Calibri" pitchFamily="34" charset="-122"/>
                <a:cs typeface="Calibri" pitchFamily="34" charset="-120"/>
              </a:rPr>
              <a:t>Administrative Boundaries </a:t>
            </a:r>
          </a:p>
          <a:p>
            <a:r>
              <a:rPr lang="en-US" sz="1400" dirty="0">
                <a:solidFill>
                  <a:srgbClr val="333333"/>
                </a:solidFill>
                <a:latin typeface="Calibri" pitchFamily="34" charset="0"/>
                <a:ea typeface="Calibri" pitchFamily="34" charset="-122"/>
                <a:cs typeface="Calibri" pitchFamily="34" charset="-120"/>
                <a:hlinkClick r:id="rId4"/>
              </a:rPr>
              <a:t>https://gadm.org/download_country.html</a:t>
            </a:r>
            <a:endParaRPr lang="en-US" sz="1400" dirty="0">
              <a:solidFill>
                <a:srgbClr val="333333"/>
              </a:solidFill>
              <a:latin typeface="Calibri" pitchFamily="34" charset="0"/>
              <a:ea typeface="Calibri" pitchFamily="34" charset="-122"/>
              <a:cs typeface="Calibri" pitchFamily="34" charset="-120"/>
            </a:endParaRPr>
          </a:p>
        </p:txBody>
      </p:sp>
      <p:sp>
        <p:nvSpPr>
          <p:cNvPr id="7" name="Text 4"/>
          <p:cNvSpPr txBox="1"/>
          <p:nvPr/>
        </p:nvSpPr>
        <p:spPr>
          <a:xfrm>
            <a:off x="858667" y="5532120"/>
            <a:ext cx="6858000" cy="1188720"/>
          </a:xfrm>
          <a:prstGeom prst="rect">
            <a:avLst/>
          </a:prstGeom>
          <a:noFill/>
          <a:ln/>
        </p:spPr>
        <p:txBody>
          <a:bodyPr wrap="square" rtlCol="0" anchor="ctr"/>
          <a:lstStyle/>
          <a:p>
            <a:pPr marL="0" indent="0">
              <a:buNone/>
            </a:pPr>
            <a:r>
              <a:rPr lang="en-US" sz="1400" b="1" dirty="0">
                <a:solidFill>
                  <a:srgbClr val="2C5F2D"/>
                </a:solidFill>
                <a:latin typeface="Calibri" pitchFamily="34" charset="0"/>
                <a:ea typeface="Calibri" pitchFamily="34" charset="-122"/>
                <a:cs typeface="Calibri" pitchFamily="34" charset="-120"/>
              </a:rPr>
              <a:t>Modelling:  </a:t>
            </a:r>
            <a:r>
              <a:rPr lang="en-US" sz="1400" dirty="0">
                <a:solidFill>
                  <a:srgbClr val="333333"/>
                </a:solidFill>
                <a:latin typeface="Calibri" pitchFamily="34" charset="0"/>
                <a:ea typeface="Calibri" pitchFamily="34" charset="-122"/>
                <a:cs typeface="Calibri" pitchFamily="34" charset="-120"/>
              </a:rPr>
              <a:t>Recocrop (R) </a:t>
            </a:r>
            <a:r>
              <a:rPr lang="en-US" sz="1400" dirty="0" err="1">
                <a:solidFill>
                  <a:srgbClr val="333333"/>
                </a:solidFill>
                <a:latin typeface="Calibri" pitchFamily="34" charset="0"/>
                <a:ea typeface="Calibri" pitchFamily="34" charset="-122"/>
                <a:cs typeface="Calibri" pitchFamily="34" charset="-120"/>
              </a:rPr>
              <a:t>EcoCrop</a:t>
            </a:r>
            <a:r>
              <a:rPr lang="en-US" sz="1400" dirty="0">
                <a:solidFill>
                  <a:srgbClr val="333333"/>
                </a:solidFill>
                <a:latin typeface="Calibri" pitchFamily="34" charset="0"/>
                <a:ea typeface="Calibri" pitchFamily="34" charset="-122"/>
                <a:cs typeface="Calibri" pitchFamily="34" charset="-120"/>
              </a:rPr>
              <a:t> model. </a:t>
            </a:r>
          </a:p>
          <a:p>
            <a:pPr marL="0" indent="0">
              <a:buNone/>
            </a:pPr>
            <a:r>
              <a:rPr lang="en-US" sz="1400" b="1" dirty="0">
                <a:solidFill>
                  <a:srgbClr val="2C5F2D"/>
                </a:solidFill>
                <a:latin typeface="Calibri" pitchFamily="34" charset="0"/>
                <a:ea typeface="Calibri" pitchFamily="34" charset="-122"/>
                <a:cs typeface="Calibri" pitchFamily="34" charset="-120"/>
              </a:rPr>
              <a:t>Used Software: </a:t>
            </a:r>
            <a:r>
              <a:rPr lang="en-US" sz="1400" dirty="0">
                <a:solidFill>
                  <a:srgbClr val="333333"/>
                </a:solidFill>
                <a:latin typeface="Calibri" pitchFamily="34" charset="0"/>
                <a:ea typeface="Calibri" pitchFamily="34" charset="-122"/>
                <a:cs typeface="Calibri" pitchFamily="34" charset="-120"/>
              </a:rPr>
              <a:t>R Studio, QGIS </a:t>
            </a:r>
          </a:p>
          <a:p>
            <a:r>
              <a:rPr lang="en-US" sz="1400" b="1" dirty="0">
                <a:solidFill>
                  <a:srgbClr val="2C5F2D"/>
                </a:solidFill>
                <a:latin typeface="Calibri" pitchFamily="34" charset="0"/>
                <a:ea typeface="Calibri" pitchFamily="34" charset="-122"/>
                <a:cs typeface="Calibri" pitchFamily="34" charset="-120"/>
              </a:rPr>
              <a:t>Libraries: </a:t>
            </a:r>
            <a:r>
              <a:rPr lang="en-US" sz="1400" dirty="0" err="1">
                <a:solidFill>
                  <a:srgbClr val="333333"/>
                </a:solidFill>
                <a:latin typeface="Calibri" pitchFamily="34" charset="0"/>
                <a:ea typeface="Calibri" pitchFamily="34" charset="-122"/>
                <a:cs typeface="Calibri" pitchFamily="34" charset="-120"/>
              </a:rPr>
              <a:t>Recocrop</a:t>
            </a:r>
            <a:r>
              <a:rPr lang="en-US" sz="1400" dirty="0">
                <a:solidFill>
                  <a:srgbClr val="333333"/>
                </a:solidFill>
                <a:latin typeface="Calibri" pitchFamily="34" charset="0"/>
                <a:ea typeface="Calibri" pitchFamily="34" charset="-122"/>
                <a:cs typeface="Calibri" pitchFamily="34" charset="-120"/>
              </a:rPr>
              <a:t>, raster, terra, </a:t>
            </a:r>
            <a:r>
              <a:rPr lang="en-US" sz="1400" dirty="0" err="1">
                <a:solidFill>
                  <a:srgbClr val="333333"/>
                </a:solidFill>
                <a:latin typeface="Calibri" pitchFamily="34" charset="0"/>
                <a:ea typeface="Calibri" pitchFamily="34" charset="-122"/>
                <a:cs typeface="Calibri" pitchFamily="34" charset="-120"/>
              </a:rPr>
              <a:t>rasterVis</a:t>
            </a:r>
            <a:r>
              <a:rPr lang="en-US" sz="1400" dirty="0">
                <a:solidFill>
                  <a:srgbClr val="333333"/>
                </a:solidFill>
                <a:latin typeface="Calibri" pitchFamily="34" charset="0"/>
                <a:ea typeface="Calibri" pitchFamily="34" charset="-122"/>
                <a:cs typeface="Calibri" pitchFamily="34" charset="-120"/>
              </a:rPr>
              <a:t>, </a:t>
            </a:r>
            <a:r>
              <a:rPr lang="en-US" sz="1400" dirty="0" err="1">
                <a:solidFill>
                  <a:srgbClr val="333333"/>
                </a:solidFill>
                <a:latin typeface="Calibri" pitchFamily="34" charset="0"/>
                <a:ea typeface="Calibri" pitchFamily="34" charset="-122"/>
                <a:cs typeface="Calibri" pitchFamily="34" charset="-120"/>
              </a:rPr>
              <a:t>dplyr</a:t>
            </a:r>
            <a:r>
              <a:rPr lang="en-US" sz="1400" dirty="0">
                <a:solidFill>
                  <a:srgbClr val="333333"/>
                </a:solidFill>
                <a:latin typeface="Calibri" pitchFamily="34" charset="0"/>
                <a:ea typeface="Calibri" pitchFamily="34" charset="-122"/>
                <a:cs typeface="Calibri" pitchFamily="34" charset="-120"/>
              </a:rPr>
              <a:t>, </a:t>
            </a:r>
            <a:r>
              <a:rPr lang="en-US" sz="1400" dirty="0" err="1">
                <a:solidFill>
                  <a:srgbClr val="333333"/>
                </a:solidFill>
                <a:latin typeface="Calibri" pitchFamily="34" charset="0"/>
                <a:ea typeface="Calibri" pitchFamily="34" charset="-122"/>
                <a:cs typeface="Calibri" pitchFamily="34" charset="-120"/>
              </a:rPr>
              <a:t>rgbif</a:t>
            </a:r>
            <a:r>
              <a:rPr lang="en-US" sz="1400" dirty="0">
                <a:solidFill>
                  <a:srgbClr val="333333"/>
                </a:solidFill>
                <a:latin typeface="Calibri" pitchFamily="34" charset="0"/>
                <a:ea typeface="Calibri" pitchFamily="34" charset="-122"/>
                <a:cs typeface="Calibri" pitchFamily="34" charset="-120"/>
              </a:rPr>
              <a:t>, </a:t>
            </a:r>
            <a:r>
              <a:rPr lang="en-US" sz="1400" dirty="0" err="1">
                <a:solidFill>
                  <a:srgbClr val="333333"/>
                </a:solidFill>
                <a:latin typeface="Calibri" pitchFamily="34" charset="0"/>
                <a:ea typeface="Calibri" pitchFamily="34" charset="-122"/>
                <a:cs typeface="Calibri" pitchFamily="34" charset="-120"/>
              </a:rPr>
              <a:t>sp</a:t>
            </a:r>
            <a:r>
              <a:rPr lang="en-US" sz="1400" dirty="0">
                <a:solidFill>
                  <a:srgbClr val="333333"/>
                </a:solidFill>
                <a:latin typeface="Calibri" pitchFamily="34" charset="0"/>
                <a:ea typeface="Calibri" pitchFamily="34" charset="-122"/>
                <a:cs typeface="Calibri" pitchFamily="34" charset="-120"/>
              </a:rPr>
              <a:t>, </a:t>
            </a:r>
            <a:endParaRPr lang="en-US" sz="1400" dirty="0"/>
          </a:p>
        </p:txBody>
      </p:sp>
      <p:sp>
        <p:nvSpPr>
          <p:cNvPr id="9" name="Text 6"/>
          <p:cNvSpPr txBox="1"/>
          <p:nvPr/>
        </p:nvSpPr>
        <p:spPr>
          <a:xfrm>
            <a:off x="7969422" y="2029596"/>
            <a:ext cx="3210828" cy="320040"/>
          </a:xfrm>
          <a:prstGeom prst="rect">
            <a:avLst/>
          </a:prstGeom>
          <a:noFill/>
          <a:ln/>
        </p:spPr>
        <p:txBody>
          <a:bodyPr wrap="square" rtlCol="0" anchor="ctr"/>
          <a:lstStyle/>
          <a:p>
            <a:pPr marL="0" indent="0">
              <a:buNone/>
            </a:pPr>
            <a:r>
              <a:rPr lang="en-US" sz="1600" b="1" dirty="0">
                <a:solidFill>
                  <a:srgbClr val="2C5F2D"/>
                </a:solidFill>
                <a:latin typeface="Calibri" pitchFamily="34" charset="0"/>
                <a:ea typeface="Calibri" pitchFamily="34" charset="-122"/>
                <a:cs typeface="Calibri" pitchFamily="34" charset="-120"/>
              </a:rPr>
              <a:t>Note on scope</a:t>
            </a:r>
            <a:endParaRPr lang="en-US" sz="1600" dirty="0"/>
          </a:p>
        </p:txBody>
      </p:sp>
      <p:sp>
        <p:nvSpPr>
          <p:cNvPr id="10" name="Text 7"/>
          <p:cNvSpPr txBox="1"/>
          <p:nvPr/>
        </p:nvSpPr>
        <p:spPr>
          <a:xfrm>
            <a:off x="7969422" y="2242194"/>
            <a:ext cx="3488557" cy="1463040"/>
          </a:xfrm>
          <a:prstGeom prst="rect">
            <a:avLst/>
          </a:prstGeom>
          <a:noFill/>
          <a:ln/>
        </p:spPr>
        <p:txBody>
          <a:bodyPr wrap="square" rtlCol="0" anchor="ctr"/>
          <a:lstStyle/>
          <a:p>
            <a:pPr marL="0" indent="0" algn="just">
              <a:buNone/>
            </a:pPr>
            <a:r>
              <a:rPr lang="en-US" sz="1400" dirty="0">
                <a:solidFill>
                  <a:srgbClr val="333333"/>
                </a:solidFill>
                <a:latin typeface="Calibri" pitchFamily="34" charset="0"/>
                <a:ea typeface="Calibri" pitchFamily="34" charset="-122"/>
                <a:cs typeface="Calibri" pitchFamily="34" charset="-120"/>
              </a:rPr>
              <a:t>Soil pH thresholds were not supplied by the company for this novel species, so pH was excluded as a limiting factor, suitability here reflects climate (temperature + rainfall) constraints only.</a:t>
            </a:r>
            <a:endParaRPr lang="en-US" sz="1400" dirty="0"/>
          </a:p>
        </p:txBody>
      </p:sp>
      <p:pic>
        <p:nvPicPr>
          <p:cNvPr id="17" name="Picture 16">
            <a:extLst>
              <a:ext uri="{FF2B5EF4-FFF2-40B4-BE49-F238E27FC236}">
                <a16:creationId xmlns:a16="http://schemas.microsoft.com/office/drawing/2014/main" id="{2D069221-85E4-31F8-7F80-5B8FF48531FF}"/>
              </a:ext>
            </a:extLst>
          </p:cNvPr>
          <p:cNvPicPr>
            <a:picLocks noChangeAspect="1"/>
          </p:cNvPicPr>
          <p:nvPr/>
        </p:nvPicPr>
        <p:blipFill>
          <a:blip r:embed="rId5">
            <a:duotone>
              <a:prstClr val="black"/>
              <a:srgbClr val="FFFFFF">
                <a:tint val="45000"/>
                <a:satMod val="400000"/>
              </a:srgbClr>
            </a:duotone>
          </a:blip>
          <a:stretch>
            <a:fillRect/>
          </a:stretch>
        </p:blipFill>
        <p:spPr>
          <a:xfrm>
            <a:off x="1524" y="6000857"/>
            <a:ext cx="857143" cy="857143"/>
          </a:xfrm>
          <a:prstGeom prst="rect">
            <a:avLst/>
          </a:prstGeom>
        </p:spPr>
      </p:pic>
      <p:sp>
        <p:nvSpPr>
          <p:cNvPr id="19" name="Text 3">
            <a:extLst>
              <a:ext uri="{FF2B5EF4-FFF2-40B4-BE49-F238E27FC236}">
                <a16:creationId xmlns:a16="http://schemas.microsoft.com/office/drawing/2014/main" id="{DD85C43F-267B-C00E-61F5-58CBF3A43447}"/>
              </a:ext>
            </a:extLst>
          </p:cNvPr>
          <p:cNvSpPr txBox="1"/>
          <p:nvPr/>
        </p:nvSpPr>
        <p:spPr>
          <a:xfrm>
            <a:off x="7969422" y="4287476"/>
            <a:ext cx="3410151" cy="1722196"/>
          </a:xfrm>
          <a:prstGeom prst="rect">
            <a:avLst/>
          </a:prstGeom>
          <a:noFill/>
          <a:ln/>
        </p:spPr>
        <p:txBody>
          <a:bodyPr wrap="square" rtlCol="0" anchor="ctr"/>
          <a:lstStyle/>
          <a:p>
            <a:pPr algn="just"/>
            <a:r>
              <a:rPr lang="en-US" sz="1400" dirty="0">
                <a:solidFill>
                  <a:srgbClr val="333333"/>
                </a:solidFill>
                <a:latin typeface="Calibri" pitchFamily="34" charset="0"/>
                <a:ea typeface="Calibri" pitchFamily="34" charset="-122"/>
                <a:cs typeface="Calibri" pitchFamily="34" charset="-120"/>
              </a:rPr>
              <a:t>We are going to use statistical analysis using the </a:t>
            </a:r>
            <a:r>
              <a:rPr lang="en-US" sz="1400" dirty="0" err="1">
                <a:solidFill>
                  <a:srgbClr val="333333"/>
                </a:solidFill>
                <a:latin typeface="Calibri" pitchFamily="34" charset="0"/>
                <a:ea typeface="Calibri" pitchFamily="34" charset="-122"/>
                <a:cs typeface="Calibri" pitchFamily="34" charset="-120"/>
              </a:rPr>
              <a:t>Recocrop</a:t>
            </a:r>
            <a:r>
              <a:rPr lang="en-US" sz="1400" dirty="0">
                <a:solidFill>
                  <a:srgbClr val="333333"/>
                </a:solidFill>
                <a:latin typeface="Calibri" pitchFamily="34" charset="0"/>
                <a:ea typeface="Calibri" pitchFamily="34" charset="-122"/>
                <a:cs typeface="Calibri" pitchFamily="34" charset="-120"/>
              </a:rPr>
              <a:t> model with R studio (R) to identify which locations are the most suitable (Highly Suitable or Suitable Marginally suitable or Not Suitable) for this pilot project and deliver statistical data table of the probable hotspots for the project to be piloted, along with some maps to identify the zones. </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0972800" cy="320040"/>
          </a:xfrm>
          <a:prstGeom prst="rect">
            <a:avLst/>
          </a:prstGeom>
          <a:noFill/>
          <a:ln/>
        </p:spPr>
        <p:txBody>
          <a:bodyPr wrap="square" rtlCol="0" anchor="ctr"/>
          <a:lstStyle/>
          <a:p>
            <a:pPr marL="0" indent="0">
              <a:buNone/>
            </a:pPr>
            <a:r>
              <a:rPr lang="en-US" sz="1200" b="1" kern="0" spc="200" dirty="0">
                <a:solidFill>
                  <a:srgbClr val="6E9B4F"/>
                </a:solidFill>
                <a:latin typeface="Calibri" pitchFamily="34" charset="0"/>
                <a:ea typeface="Calibri" pitchFamily="34" charset="-122"/>
                <a:cs typeface="Calibri" pitchFamily="34" charset="-120"/>
              </a:rPr>
              <a:t>RESULTS</a:t>
            </a:r>
            <a:endParaRPr lang="en-US" sz="1200" dirty="0"/>
          </a:p>
        </p:txBody>
      </p:sp>
      <p:sp>
        <p:nvSpPr>
          <p:cNvPr id="3" name="Text 1"/>
          <p:cNvSpPr txBox="1"/>
          <p:nvPr/>
        </p:nvSpPr>
        <p:spPr>
          <a:xfrm>
            <a:off x="548640" y="594360"/>
            <a:ext cx="10972800" cy="640080"/>
          </a:xfrm>
          <a:prstGeom prst="rect">
            <a:avLst/>
          </a:prstGeom>
          <a:noFill/>
          <a:ln/>
        </p:spPr>
        <p:txBody>
          <a:bodyPr wrap="square" rtlCol="0" anchor="ctr"/>
          <a:lstStyle/>
          <a:p>
            <a:pPr marL="0" indent="0">
              <a:buNone/>
            </a:pPr>
            <a:r>
              <a:rPr lang="en-US" sz="3000" b="1" dirty="0">
                <a:solidFill>
                  <a:srgbClr val="2C5F2D"/>
                </a:solidFill>
                <a:latin typeface="Cambria" pitchFamily="34" charset="0"/>
                <a:ea typeface="Cambria" pitchFamily="34" charset="-122"/>
                <a:cs typeface="Cambria" pitchFamily="34" charset="-120"/>
              </a:rPr>
              <a:t>National suitability is heavily concentrated in Peru</a:t>
            </a:r>
            <a:endParaRPr lang="en-US" sz="3000" dirty="0"/>
          </a:p>
        </p:txBody>
      </p:sp>
      <p:graphicFrame>
        <p:nvGraphicFramePr>
          <p:cNvPr id="4" name="Chart 0"/>
          <p:cNvGraphicFramePr/>
          <p:nvPr>
            <p:extLst>
              <p:ext uri="{D42A27DB-BD31-4B8C-83A1-F6EECF244321}">
                <p14:modId xmlns:p14="http://schemas.microsoft.com/office/powerpoint/2010/main" val="1019237225"/>
              </p:ext>
            </p:extLst>
          </p:nvPr>
        </p:nvGraphicFramePr>
        <p:xfrm>
          <a:off x="548640" y="1463040"/>
          <a:ext cx="694944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772400" y="1463040"/>
            <a:ext cx="3840480" cy="4297680"/>
          </a:xfrm>
          <a:prstGeom prst="rect">
            <a:avLst/>
          </a:prstGeom>
          <a:solidFill>
            <a:srgbClr val="F7F7F2"/>
          </a:solidFill>
          <a:ln/>
        </p:spPr>
        <p:txBody>
          <a:bodyPr/>
          <a:lstStyle/>
          <a:p>
            <a:endParaRPr lang="en-NL"/>
          </a:p>
        </p:txBody>
      </p:sp>
      <p:sp>
        <p:nvSpPr>
          <p:cNvPr id="6" name="Text 3"/>
          <p:cNvSpPr txBox="1"/>
          <p:nvPr/>
        </p:nvSpPr>
        <p:spPr>
          <a:xfrm>
            <a:off x="8001000" y="1691640"/>
            <a:ext cx="3383280" cy="320040"/>
          </a:xfrm>
          <a:prstGeom prst="rect">
            <a:avLst/>
          </a:prstGeom>
          <a:noFill/>
          <a:ln/>
        </p:spPr>
        <p:txBody>
          <a:bodyPr wrap="square" rtlCol="0" anchor="ctr"/>
          <a:lstStyle/>
          <a:p>
            <a:pPr marL="0" indent="0">
              <a:buNone/>
            </a:pPr>
            <a:r>
              <a:rPr lang="en-US" sz="2400" b="1" dirty="0">
                <a:solidFill>
                  <a:srgbClr val="2C5F2D"/>
                </a:solidFill>
                <a:latin typeface="Calibri" pitchFamily="34" charset="0"/>
                <a:ea typeface="Calibri" pitchFamily="34" charset="-122"/>
                <a:cs typeface="Calibri" pitchFamily="34" charset="-120"/>
              </a:rPr>
              <a:t>Reading the result</a:t>
            </a:r>
            <a:endParaRPr lang="en-US" sz="2400" dirty="0"/>
          </a:p>
        </p:txBody>
      </p:sp>
      <p:sp>
        <p:nvSpPr>
          <p:cNvPr id="7" name="Text 4"/>
          <p:cNvSpPr txBox="1"/>
          <p:nvPr/>
        </p:nvSpPr>
        <p:spPr>
          <a:xfrm>
            <a:off x="8001000" y="2103120"/>
            <a:ext cx="3383280" cy="3474720"/>
          </a:xfrm>
          <a:prstGeom prst="rect">
            <a:avLst/>
          </a:prstGeom>
          <a:noFill/>
          <a:ln/>
        </p:spPr>
        <p:txBody>
          <a:bodyPr wrap="square" rtlCol="0" anchor="ctr"/>
          <a:lstStyle/>
          <a:p>
            <a:pPr marL="0" indent="0" algn="just">
              <a:spcAft>
                <a:spcPts val="400"/>
              </a:spcAft>
              <a:buNone/>
            </a:pPr>
            <a:r>
              <a:rPr lang="en-US" sz="1600" b="1" dirty="0">
                <a:solidFill>
                  <a:srgbClr val="333333"/>
                </a:solidFill>
                <a:latin typeface="Calibri" pitchFamily="34" charset="0"/>
                <a:ea typeface="Calibri" pitchFamily="34" charset="-122"/>
                <a:cs typeface="Calibri" pitchFamily="34" charset="-120"/>
              </a:rPr>
              <a:t>Peru: 38.3% </a:t>
            </a:r>
            <a:r>
              <a:rPr lang="en-US" sz="1600" dirty="0">
                <a:solidFill>
                  <a:srgbClr val="333333"/>
                </a:solidFill>
                <a:latin typeface="Calibri" pitchFamily="34" charset="0"/>
                <a:ea typeface="Calibri" pitchFamily="34" charset="-122"/>
                <a:cs typeface="Calibri" pitchFamily="34" charset="-120"/>
              </a:rPr>
              <a:t>the region driven by the Amazon basin (Loreto, Amazonas), which is warm and consistently wet year-round.</a:t>
            </a:r>
          </a:p>
          <a:p>
            <a:pPr marL="0" indent="0" algn="just">
              <a:spcAft>
                <a:spcPts val="400"/>
              </a:spcAft>
              <a:buNone/>
            </a:pPr>
            <a:r>
              <a:rPr lang="en-US" sz="1600" dirty="0">
                <a:solidFill>
                  <a:srgbClr val="333333"/>
                </a:solidFill>
                <a:latin typeface="Calibri" pitchFamily="34" charset="0"/>
                <a:ea typeface="Calibri" pitchFamily="34" charset="-122"/>
                <a:cs typeface="Calibri" pitchFamily="34" charset="-120"/>
              </a:rPr>
              <a:t>
</a:t>
            </a:r>
            <a:r>
              <a:rPr lang="en-US" sz="1600" b="1" dirty="0">
                <a:solidFill>
                  <a:srgbClr val="333333"/>
                </a:solidFill>
                <a:latin typeface="Calibri" pitchFamily="34" charset="0"/>
                <a:ea typeface="Calibri" pitchFamily="34" charset="-122"/>
                <a:cs typeface="Calibri" pitchFamily="34" charset="-120"/>
              </a:rPr>
              <a:t>Portugal: 0% </a:t>
            </a:r>
            <a:r>
              <a:rPr lang="en-US" sz="1600" dirty="0">
                <a:solidFill>
                  <a:srgbClr val="333333"/>
                </a:solidFill>
                <a:latin typeface="Calibri" pitchFamily="34" charset="0"/>
                <a:ea typeface="Calibri" pitchFamily="34" charset="-122"/>
                <a:cs typeface="Calibri" pitchFamily="34" charset="-120"/>
              </a:rPr>
              <a:t>as Mediterranean summer drought breaks the 230-day continuous-rainfall requirement.
</a:t>
            </a:r>
            <a:r>
              <a:rPr lang="en-US" sz="1600" b="1" dirty="0">
                <a:solidFill>
                  <a:srgbClr val="333333"/>
                </a:solidFill>
                <a:latin typeface="Calibri" pitchFamily="34" charset="0"/>
                <a:ea typeface="Calibri" pitchFamily="34" charset="-122"/>
                <a:cs typeface="Calibri" pitchFamily="34" charset="-120"/>
              </a:rPr>
              <a:t>Vietnam &amp; Tanzania: &lt; 0.3%</a:t>
            </a:r>
            <a:r>
              <a:rPr lang="en-US" sz="1600" dirty="0">
                <a:solidFill>
                  <a:srgbClr val="333333"/>
                </a:solidFill>
                <a:latin typeface="Calibri" pitchFamily="34" charset="0"/>
                <a:ea typeface="Calibri" pitchFamily="34" charset="-122"/>
                <a:cs typeface="Calibri" pitchFamily="34" charset="-120"/>
              </a:rPr>
              <a:t> here suitability is limited to a handful of humid highland pockets.</a:t>
            </a:r>
            <a:endParaRPr lang="en-US" sz="1600" dirty="0"/>
          </a:p>
        </p:txBody>
      </p:sp>
      <p:pic>
        <p:nvPicPr>
          <p:cNvPr id="13" name="Picture 12">
            <a:extLst>
              <a:ext uri="{FF2B5EF4-FFF2-40B4-BE49-F238E27FC236}">
                <a16:creationId xmlns:a16="http://schemas.microsoft.com/office/drawing/2014/main" id="{988E811C-497C-FB17-57AE-4898556E7456}"/>
              </a:ext>
            </a:extLst>
          </p:cNvPr>
          <p:cNvPicPr>
            <a:picLocks noChangeAspect="1"/>
          </p:cNvPicPr>
          <p:nvPr/>
        </p:nvPicPr>
        <p:blipFill>
          <a:blip r:embed="rId4">
            <a:duotone>
              <a:prstClr val="black"/>
              <a:srgbClr val="FFFFFF">
                <a:tint val="45000"/>
                <a:satMod val="400000"/>
              </a:srgbClr>
            </a:duotone>
          </a:blip>
          <a:stretch>
            <a:fillRect/>
          </a:stretch>
        </p:blipFill>
        <p:spPr>
          <a:xfrm>
            <a:off x="1524" y="6000857"/>
            <a:ext cx="857143" cy="85714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txBox="1"/>
          <p:nvPr/>
        </p:nvSpPr>
        <p:spPr>
          <a:xfrm>
            <a:off x="2301616" y="262094"/>
            <a:ext cx="7433733" cy="640080"/>
          </a:xfrm>
          <a:prstGeom prst="rect">
            <a:avLst/>
          </a:prstGeom>
          <a:noFill/>
          <a:ln/>
        </p:spPr>
        <p:txBody>
          <a:bodyPr wrap="square" rtlCol="0" anchor="ctr"/>
          <a:lstStyle/>
          <a:p>
            <a:pPr marL="0" indent="0">
              <a:buNone/>
            </a:pPr>
            <a:r>
              <a:rPr lang="en-US" sz="2400" b="1" dirty="0">
                <a:solidFill>
                  <a:srgbClr val="2C5F2D"/>
                </a:solidFill>
                <a:latin typeface="Cambria" pitchFamily="34" charset="0"/>
                <a:ea typeface="Cambria" pitchFamily="34" charset="-122"/>
                <a:cs typeface="Cambria" pitchFamily="34" charset="-120"/>
              </a:rPr>
              <a:t>Crop suitability maps for all 4 countries (0–1 scale)</a:t>
            </a:r>
            <a:endParaRPr lang="en-US" sz="2400" dirty="0"/>
          </a:p>
        </p:txBody>
      </p:sp>
      <p:pic>
        <p:nvPicPr>
          <p:cNvPr id="32" name="Picture 31">
            <a:extLst>
              <a:ext uri="{FF2B5EF4-FFF2-40B4-BE49-F238E27FC236}">
                <a16:creationId xmlns:a16="http://schemas.microsoft.com/office/drawing/2014/main" id="{EF93AA43-4AB8-8541-F263-4AA3A0B84035}"/>
              </a:ext>
            </a:extLst>
          </p:cNvPr>
          <p:cNvPicPr>
            <a:picLocks noChangeAspect="1"/>
          </p:cNvPicPr>
          <p:nvPr/>
        </p:nvPicPr>
        <p:blipFill>
          <a:blip r:embed="rId3"/>
          <a:stretch>
            <a:fillRect/>
          </a:stretch>
        </p:blipFill>
        <p:spPr>
          <a:xfrm>
            <a:off x="1233552" y="3677898"/>
            <a:ext cx="4784931" cy="2918008"/>
          </a:xfrm>
          <a:prstGeom prst="rect">
            <a:avLst/>
          </a:prstGeom>
        </p:spPr>
      </p:pic>
      <p:pic>
        <p:nvPicPr>
          <p:cNvPr id="34" name="Picture 33">
            <a:extLst>
              <a:ext uri="{FF2B5EF4-FFF2-40B4-BE49-F238E27FC236}">
                <a16:creationId xmlns:a16="http://schemas.microsoft.com/office/drawing/2014/main" id="{051029C5-4A94-E424-189E-91D0D074F7C1}"/>
              </a:ext>
            </a:extLst>
          </p:cNvPr>
          <p:cNvPicPr>
            <a:picLocks noChangeAspect="1"/>
          </p:cNvPicPr>
          <p:nvPr/>
        </p:nvPicPr>
        <p:blipFill>
          <a:blip r:embed="rId4"/>
          <a:stretch>
            <a:fillRect/>
          </a:stretch>
        </p:blipFill>
        <p:spPr>
          <a:xfrm>
            <a:off x="6427280" y="3739562"/>
            <a:ext cx="4784931" cy="2918007"/>
          </a:xfrm>
          <a:prstGeom prst="rect">
            <a:avLst/>
          </a:prstGeom>
        </p:spPr>
      </p:pic>
      <p:pic>
        <p:nvPicPr>
          <p:cNvPr id="36" name="Picture 35">
            <a:extLst>
              <a:ext uri="{FF2B5EF4-FFF2-40B4-BE49-F238E27FC236}">
                <a16:creationId xmlns:a16="http://schemas.microsoft.com/office/drawing/2014/main" id="{276E1CF4-FDAA-BCE4-C806-045831D10B99}"/>
              </a:ext>
            </a:extLst>
          </p:cNvPr>
          <p:cNvPicPr>
            <a:picLocks noChangeAspect="1"/>
          </p:cNvPicPr>
          <p:nvPr/>
        </p:nvPicPr>
        <p:blipFill>
          <a:blip r:embed="rId5"/>
          <a:stretch>
            <a:fillRect/>
          </a:stretch>
        </p:blipFill>
        <p:spPr>
          <a:xfrm>
            <a:off x="6411263" y="767012"/>
            <a:ext cx="4784931" cy="2918008"/>
          </a:xfrm>
          <a:prstGeom prst="rect">
            <a:avLst/>
          </a:prstGeom>
        </p:spPr>
      </p:pic>
      <p:pic>
        <p:nvPicPr>
          <p:cNvPr id="38" name="Picture 37">
            <a:extLst>
              <a:ext uri="{FF2B5EF4-FFF2-40B4-BE49-F238E27FC236}">
                <a16:creationId xmlns:a16="http://schemas.microsoft.com/office/drawing/2014/main" id="{3DBF3A2C-61F2-B0E6-5519-A5FE51E6A4AE}"/>
              </a:ext>
            </a:extLst>
          </p:cNvPr>
          <p:cNvPicPr>
            <a:picLocks noChangeAspect="1"/>
          </p:cNvPicPr>
          <p:nvPr/>
        </p:nvPicPr>
        <p:blipFill>
          <a:blip r:embed="rId6"/>
          <a:stretch>
            <a:fillRect/>
          </a:stretch>
        </p:blipFill>
        <p:spPr>
          <a:xfrm>
            <a:off x="1233552" y="767013"/>
            <a:ext cx="4784931" cy="2918007"/>
          </a:xfrm>
          <a:prstGeom prst="rect">
            <a:avLst/>
          </a:prstGeom>
        </p:spPr>
      </p:pic>
      <p:pic>
        <p:nvPicPr>
          <p:cNvPr id="40" name="Picture 39">
            <a:extLst>
              <a:ext uri="{FF2B5EF4-FFF2-40B4-BE49-F238E27FC236}">
                <a16:creationId xmlns:a16="http://schemas.microsoft.com/office/drawing/2014/main" id="{6F6AE82F-6648-3E43-84B5-A43A5158BA94}"/>
              </a:ext>
            </a:extLst>
          </p:cNvPr>
          <p:cNvPicPr>
            <a:picLocks noChangeAspect="1"/>
          </p:cNvPicPr>
          <p:nvPr/>
        </p:nvPicPr>
        <p:blipFill>
          <a:blip r:embed="rId7">
            <a:duotone>
              <a:prstClr val="black"/>
              <a:srgbClr val="FFFFFF">
                <a:tint val="45000"/>
                <a:satMod val="400000"/>
              </a:srgbClr>
            </a:duotone>
          </a:blip>
          <a:stretch>
            <a:fillRect/>
          </a:stretch>
        </p:blipFill>
        <p:spPr>
          <a:xfrm>
            <a:off x="1524" y="6000857"/>
            <a:ext cx="857143" cy="857143"/>
          </a:xfrm>
          <a:prstGeom prst="rect">
            <a:avLst/>
          </a:prstGeom>
        </p:spPr>
      </p:pic>
      <p:sp>
        <p:nvSpPr>
          <p:cNvPr id="46" name="Text 0">
            <a:extLst>
              <a:ext uri="{FF2B5EF4-FFF2-40B4-BE49-F238E27FC236}">
                <a16:creationId xmlns:a16="http://schemas.microsoft.com/office/drawing/2014/main" id="{496F2273-7D31-FDBE-CE1C-6A9C7E4E7CB8}"/>
              </a:ext>
            </a:extLst>
          </p:cNvPr>
          <p:cNvSpPr txBox="1"/>
          <p:nvPr/>
        </p:nvSpPr>
        <p:spPr>
          <a:xfrm>
            <a:off x="548640" y="320040"/>
            <a:ext cx="1661160" cy="320040"/>
          </a:xfrm>
          <a:prstGeom prst="rect">
            <a:avLst/>
          </a:prstGeom>
          <a:noFill/>
          <a:ln/>
        </p:spPr>
        <p:txBody>
          <a:bodyPr wrap="square" rtlCol="0" anchor="ctr"/>
          <a:lstStyle/>
          <a:p>
            <a:pPr marL="0" indent="0">
              <a:buNone/>
            </a:pPr>
            <a:r>
              <a:rPr lang="en-US" sz="1200" b="1" kern="0" spc="200" dirty="0">
                <a:solidFill>
                  <a:srgbClr val="6E9B4F"/>
                </a:solidFill>
                <a:latin typeface="Calibri" pitchFamily="34" charset="0"/>
                <a:ea typeface="Calibri" pitchFamily="34" charset="-122"/>
                <a:cs typeface="Calibri" pitchFamily="34" charset="-120"/>
              </a:rPr>
              <a:t>RESULTS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0972800" cy="320040"/>
          </a:xfrm>
          <a:prstGeom prst="rect">
            <a:avLst/>
          </a:prstGeom>
          <a:noFill/>
          <a:ln/>
        </p:spPr>
        <p:txBody>
          <a:bodyPr wrap="square" rtlCol="0" anchor="ctr"/>
          <a:lstStyle/>
          <a:p>
            <a:pPr marL="0" indent="0">
              <a:buNone/>
            </a:pPr>
            <a:r>
              <a:rPr lang="en-US" sz="1200" b="1" kern="0" spc="200" dirty="0">
                <a:solidFill>
                  <a:srgbClr val="6E9B4F"/>
                </a:solidFill>
                <a:latin typeface="Calibri" pitchFamily="34" charset="0"/>
                <a:ea typeface="Calibri" pitchFamily="34" charset="-122"/>
                <a:cs typeface="Calibri" pitchFamily="34" charset="-120"/>
              </a:rPr>
              <a:t>RESULTS</a:t>
            </a:r>
            <a:endParaRPr lang="en-US" sz="1200" dirty="0"/>
          </a:p>
        </p:txBody>
      </p:sp>
      <p:sp>
        <p:nvSpPr>
          <p:cNvPr id="3" name="Text 1"/>
          <p:cNvSpPr txBox="1"/>
          <p:nvPr/>
        </p:nvSpPr>
        <p:spPr>
          <a:xfrm>
            <a:off x="548640" y="594360"/>
            <a:ext cx="10972800" cy="640080"/>
          </a:xfrm>
          <a:prstGeom prst="rect">
            <a:avLst/>
          </a:prstGeom>
          <a:noFill/>
          <a:ln/>
        </p:spPr>
        <p:txBody>
          <a:bodyPr wrap="square" rtlCol="0" anchor="ctr"/>
          <a:lstStyle/>
          <a:p>
            <a:pPr marL="0" indent="0">
              <a:buNone/>
            </a:pPr>
            <a:r>
              <a:rPr lang="en-US" sz="3000" b="1" dirty="0">
                <a:solidFill>
                  <a:srgbClr val="2C5F2D"/>
                </a:solidFill>
                <a:latin typeface="Cambria" pitchFamily="34" charset="0"/>
                <a:ea typeface="Cambria" pitchFamily="34" charset="-122"/>
                <a:cs typeface="Cambria" pitchFamily="34" charset="-120"/>
              </a:rPr>
              <a:t>Provincial hotspots</a:t>
            </a:r>
            <a:endParaRPr lang="en-US" sz="3000" dirty="0"/>
          </a:p>
        </p:txBody>
      </p:sp>
      <p:sp>
        <p:nvSpPr>
          <p:cNvPr id="6" name="Text 4"/>
          <p:cNvSpPr txBox="1"/>
          <p:nvPr/>
        </p:nvSpPr>
        <p:spPr>
          <a:xfrm>
            <a:off x="4405142" y="483368"/>
            <a:ext cx="7024858" cy="822960"/>
          </a:xfrm>
          <a:prstGeom prst="rect">
            <a:avLst/>
          </a:prstGeom>
          <a:noFill/>
          <a:ln/>
        </p:spPr>
        <p:txBody>
          <a:bodyPr wrap="square" rtlCol="0" anchor="ctr"/>
          <a:lstStyle/>
          <a:p>
            <a:pPr algn="just"/>
            <a:r>
              <a:rPr lang="en-US" sz="1150" b="1" dirty="0">
                <a:solidFill>
                  <a:srgbClr val="6B6B6B"/>
                </a:solidFill>
                <a:latin typeface="Calibri" pitchFamily="34" charset="0"/>
                <a:ea typeface="Calibri" pitchFamily="34" charset="-122"/>
                <a:cs typeface="Calibri" pitchFamily="34" charset="-120"/>
              </a:rPr>
              <a:t>Peru's Amazon-basin regions dominate top suitable provinces across all four countries in terms of land cover and suitability score; Portugal returns no suitable provinces ;Vietnam and Tanzania shows negligible results to conduct a pilot project.</a:t>
            </a:r>
            <a:endParaRPr lang="en-US" sz="1150" b="1" dirty="0"/>
          </a:p>
        </p:txBody>
      </p:sp>
      <p:pic>
        <p:nvPicPr>
          <p:cNvPr id="19" name="Picture 18">
            <a:extLst>
              <a:ext uri="{FF2B5EF4-FFF2-40B4-BE49-F238E27FC236}">
                <a16:creationId xmlns:a16="http://schemas.microsoft.com/office/drawing/2014/main" id="{D17936E9-F890-D92B-12EF-374C497F8C22}"/>
              </a:ext>
            </a:extLst>
          </p:cNvPr>
          <p:cNvPicPr>
            <a:picLocks noChangeAspect="1"/>
          </p:cNvPicPr>
          <p:nvPr/>
        </p:nvPicPr>
        <p:blipFill>
          <a:blip r:embed="rId3">
            <a:duotone>
              <a:prstClr val="black"/>
              <a:srgbClr val="FFFFFF">
                <a:tint val="45000"/>
                <a:satMod val="400000"/>
              </a:srgbClr>
            </a:duotone>
          </a:blip>
          <a:stretch>
            <a:fillRect/>
          </a:stretch>
        </p:blipFill>
        <p:spPr>
          <a:xfrm>
            <a:off x="1524" y="6000857"/>
            <a:ext cx="857143" cy="857143"/>
          </a:xfrm>
          <a:prstGeom prst="rect">
            <a:avLst/>
          </a:prstGeom>
        </p:spPr>
      </p:pic>
      <p:pic>
        <p:nvPicPr>
          <p:cNvPr id="21" name="Picture 20">
            <a:extLst>
              <a:ext uri="{FF2B5EF4-FFF2-40B4-BE49-F238E27FC236}">
                <a16:creationId xmlns:a16="http://schemas.microsoft.com/office/drawing/2014/main" id="{B68EF6DE-83A7-AC4F-46B2-A50A5C44DCF9}"/>
              </a:ext>
            </a:extLst>
          </p:cNvPr>
          <p:cNvPicPr>
            <a:picLocks noChangeAspect="1"/>
          </p:cNvPicPr>
          <p:nvPr/>
        </p:nvPicPr>
        <p:blipFill>
          <a:blip r:embed="rId4"/>
          <a:stretch>
            <a:fillRect/>
          </a:stretch>
        </p:blipFill>
        <p:spPr>
          <a:xfrm>
            <a:off x="858667" y="1169075"/>
            <a:ext cx="4845999" cy="5094565"/>
          </a:xfrm>
          <a:prstGeom prst="rect">
            <a:avLst/>
          </a:prstGeom>
        </p:spPr>
      </p:pic>
      <p:pic>
        <p:nvPicPr>
          <p:cNvPr id="25" name="Picture 24">
            <a:extLst>
              <a:ext uri="{FF2B5EF4-FFF2-40B4-BE49-F238E27FC236}">
                <a16:creationId xmlns:a16="http://schemas.microsoft.com/office/drawing/2014/main" id="{7A54DA33-53D6-AAD6-EAD5-C18458CB081F}"/>
              </a:ext>
            </a:extLst>
          </p:cNvPr>
          <p:cNvPicPr>
            <a:picLocks noChangeAspect="1"/>
          </p:cNvPicPr>
          <p:nvPr/>
        </p:nvPicPr>
        <p:blipFill>
          <a:blip r:embed="rId5"/>
          <a:stretch>
            <a:fillRect/>
          </a:stretch>
        </p:blipFill>
        <p:spPr>
          <a:xfrm>
            <a:off x="6224337" y="1208786"/>
            <a:ext cx="5774362" cy="538632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3A41F-BF64-441D-4E47-794F0D22C70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7F7E884-9F2C-13CF-47C9-A283E8002488}"/>
              </a:ext>
            </a:extLst>
          </p:cNvPr>
          <p:cNvSpPr txBox="1"/>
          <p:nvPr/>
        </p:nvSpPr>
        <p:spPr>
          <a:xfrm>
            <a:off x="757188" y="320040"/>
            <a:ext cx="10972800" cy="320040"/>
          </a:xfrm>
          <a:prstGeom prst="rect">
            <a:avLst/>
          </a:prstGeom>
          <a:noFill/>
          <a:ln/>
        </p:spPr>
        <p:txBody>
          <a:bodyPr wrap="square" rtlCol="0" anchor="ctr"/>
          <a:lstStyle/>
          <a:p>
            <a:pPr marL="0" indent="0">
              <a:buNone/>
            </a:pPr>
            <a:r>
              <a:rPr lang="en-US" sz="1200" b="1" kern="0" spc="200" dirty="0">
                <a:solidFill>
                  <a:srgbClr val="6E9B4F"/>
                </a:solidFill>
                <a:latin typeface="Calibri" pitchFamily="34" charset="0"/>
                <a:ea typeface="Calibri" pitchFamily="34" charset="-122"/>
                <a:cs typeface="Calibri" pitchFamily="34" charset="-120"/>
              </a:rPr>
              <a:t>RESULTS</a:t>
            </a:r>
            <a:endParaRPr lang="en-US" sz="1200" dirty="0"/>
          </a:p>
        </p:txBody>
      </p:sp>
      <p:sp>
        <p:nvSpPr>
          <p:cNvPr id="3" name="Text 1">
            <a:extLst>
              <a:ext uri="{FF2B5EF4-FFF2-40B4-BE49-F238E27FC236}">
                <a16:creationId xmlns:a16="http://schemas.microsoft.com/office/drawing/2014/main" id="{0F5BADA0-0F84-A24A-3417-DADE07903DA4}"/>
              </a:ext>
            </a:extLst>
          </p:cNvPr>
          <p:cNvSpPr txBox="1"/>
          <p:nvPr/>
        </p:nvSpPr>
        <p:spPr>
          <a:xfrm>
            <a:off x="757188" y="594360"/>
            <a:ext cx="10972800" cy="640080"/>
          </a:xfrm>
          <a:prstGeom prst="rect">
            <a:avLst/>
          </a:prstGeom>
          <a:noFill/>
          <a:ln/>
        </p:spPr>
        <p:txBody>
          <a:bodyPr wrap="square" rtlCol="0" anchor="ctr"/>
          <a:lstStyle/>
          <a:p>
            <a:pPr marL="0" indent="0">
              <a:buNone/>
            </a:pPr>
            <a:r>
              <a:rPr lang="en-US" sz="3000" b="1" dirty="0">
                <a:solidFill>
                  <a:srgbClr val="2C5F2D"/>
                </a:solidFill>
                <a:latin typeface="Cambria" pitchFamily="34" charset="0"/>
                <a:ea typeface="Cambria" pitchFamily="34" charset="-122"/>
                <a:cs typeface="Cambria" pitchFamily="34" charset="-120"/>
              </a:rPr>
              <a:t>Provincial hotspots as per land cover</a:t>
            </a:r>
            <a:endParaRPr lang="en-US" sz="3000" dirty="0"/>
          </a:p>
        </p:txBody>
      </p:sp>
      <p:graphicFrame>
        <p:nvGraphicFramePr>
          <p:cNvPr id="7" name="Table 0">
            <a:extLst>
              <a:ext uri="{FF2B5EF4-FFF2-40B4-BE49-F238E27FC236}">
                <a16:creationId xmlns:a16="http://schemas.microsoft.com/office/drawing/2014/main" id="{1A96498C-B8EC-301C-63F5-33D67BAE2FC8}"/>
              </a:ext>
            </a:extLst>
          </p:cNvPr>
          <p:cNvGraphicFramePr>
            <a:graphicFrameLocks noGrp="1"/>
          </p:cNvGraphicFramePr>
          <p:nvPr>
            <p:extLst>
              <p:ext uri="{D42A27DB-BD31-4B8C-83A1-F6EECF244321}">
                <p14:modId xmlns:p14="http://schemas.microsoft.com/office/powerpoint/2010/main" val="4099851398"/>
              </p:ext>
            </p:extLst>
          </p:nvPr>
        </p:nvGraphicFramePr>
        <p:xfrm>
          <a:off x="858667" y="1257300"/>
          <a:ext cx="7833362" cy="5360670"/>
        </p:xfrm>
        <a:graphic>
          <a:graphicData uri="http://schemas.openxmlformats.org/drawingml/2006/table">
            <a:tbl>
              <a:tblPr/>
              <a:tblGrid>
                <a:gridCol w="2057246">
                  <a:extLst>
                    <a:ext uri="{9D8B030D-6E8A-4147-A177-3AD203B41FA5}">
                      <a16:colId xmlns:a16="http://schemas.microsoft.com/office/drawing/2014/main" val="20000"/>
                    </a:ext>
                  </a:extLst>
                </a:gridCol>
                <a:gridCol w="1503372">
                  <a:extLst>
                    <a:ext uri="{9D8B030D-6E8A-4147-A177-3AD203B41FA5}">
                      <a16:colId xmlns:a16="http://schemas.microsoft.com/office/drawing/2014/main" val="20001"/>
                    </a:ext>
                  </a:extLst>
                </a:gridCol>
                <a:gridCol w="1424248">
                  <a:extLst>
                    <a:ext uri="{9D8B030D-6E8A-4147-A177-3AD203B41FA5}">
                      <a16:colId xmlns:a16="http://schemas.microsoft.com/office/drawing/2014/main" val="20002"/>
                    </a:ext>
                  </a:extLst>
                </a:gridCol>
                <a:gridCol w="1424248">
                  <a:extLst>
                    <a:ext uri="{9D8B030D-6E8A-4147-A177-3AD203B41FA5}">
                      <a16:colId xmlns:a16="http://schemas.microsoft.com/office/drawing/2014/main" val="2839801492"/>
                    </a:ext>
                  </a:extLst>
                </a:gridCol>
                <a:gridCol w="1424248">
                  <a:extLst>
                    <a:ext uri="{9D8B030D-6E8A-4147-A177-3AD203B41FA5}">
                      <a16:colId xmlns:a16="http://schemas.microsoft.com/office/drawing/2014/main" val="1954580218"/>
                    </a:ext>
                  </a:extLst>
                </a:gridCol>
              </a:tblGrid>
              <a:tr h="37719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Province</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solidFill>
                      <a:srgbClr val="2C5F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Country</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solidFill>
                      <a:srgbClr val="2C5F2D"/>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 area suitable</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solidFill>
                      <a:srgbClr val="2C5F2D"/>
                    </a:solidFill>
                  </a:tcPr>
                </a:tc>
                <a:tc>
                  <a:txBody>
                    <a:bodyPr/>
                    <a:lstStyle/>
                    <a:p>
                      <a:pPr marL="0" indent="0" algn="ctr" defTabSz="914400" rtl="0" eaLnBrk="1" latinLnBrk="0" hangingPunct="1">
                        <a:buNone/>
                      </a:pPr>
                      <a:r>
                        <a:rPr lang="en-US" sz="1200" b="1" kern="1200" dirty="0">
                          <a:solidFill>
                            <a:srgbClr val="FFFFFF"/>
                          </a:solidFill>
                          <a:latin typeface="Calibri" pitchFamily="34" charset="0"/>
                          <a:ea typeface="Calibri" pitchFamily="34" charset="-122"/>
                          <a:cs typeface="Calibri" pitchFamily="34" charset="-120"/>
                        </a:rPr>
                        <a:t>Avg Suitability Score </a:t>
                      </a: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solidFill>
                      <a:srgbClr val="2C5F2D"/>
                    </a:solidFill>
                  </a:tcPr>
                </a:tc>
                <a:tc>
                  <a:txBody>
                    <a:bodyPr/>
                    <a:lstStyle/>
                    <a:p>
                      <a:pPr marL="0" indent="0" algn="ctr" defTabSz="914400" rtl="0" eaLnBrk="1" latinLnBrk="0" hangingPunct="1">
                        <a:buNone/>
                      </a:pPr>
                      <a:r>
                        <a:rPr lang="en-US" sz="1200" b="1" kern="1200" dirty="0">
                          <a:solidFill>
                            <a:srgbClr val="FFFFFF"/>
                          </a:solidFill>
                          <a:latin typeface="Calibri" pitchFamily="34" charset="0"/>
                          <a:ea typeface="Calibri" pitchFamily="34" charset="-122"/>
                          <a:cs typeface="Calibri" pitchFamily="34" charset="-120"/>
                        </a:rPr>
                        <a:t>Suitability Status</a:t>
                      </a: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377190">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Loreto</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Peru</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97.5%</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latin typeface="Calibri" charset="0"/>
                          <a:ea typeface="Calibri" charset="0"/>
                          <a:cs typeface="Calibri" charset="0"/>
                        </a:rPr>
                        <a:t>0.84</a:t>
                      </a: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b="0" dirty="0">
                          <a:solidFill>
                            <a:srgbClr val="333333"/>
                          </a:solidFill>
                          <a:latin typeface="Calibri" pitchFamily="34" charset="0"/>
                          <a:ea typeface="Calibri" pitchFamily="34" charset="-122"/>
                          <a:cs typeface="Calibri" pitchFamily="34" charset="-120"/>
                        </a:rPr>
                        <a:t>Highly Suitable: </a:t>
                      </a:r>
                      <a:endParaRPr lang="en-US" sz="1200" b="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extLst>
                  <a:ext uri="{0D108BD9-81ED-4DB2-BD59-A6C34878D82A}">
                    <a16:rowId xmlns:a16="http://schemas.microsoft.com/office/drawing/2014/main" val="10001"/>
                  </a:ext>
                </a:extLst>
              </a:tr>
              <a:tr h="377190">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Amazonas</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Peru</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50.8%</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latin typeface="Calibri" charset="0"/>
                          <a:ea typeface="Calibri" charset="0"/>
                          <a:cs typeface="Calibri" charset="0"/>
                        </a:rPr>
                        <a:t>0.48</a:t>
                      </a: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b="0" dirty="0">
                          <a:solidFill>
                            <a:srgbClr val="333333"/>
                          </a:solidFill>
                          <a:latin typeface="Calibri" pitchFamily="34" charset="0"/>
                          <a:ea typeface="Calibri" pitchFamily="34" charset="-122"/>
                          <a:cs typeface="Calibri" pitchFamily="34" charset="-120"/>
                        </a:rPr>
                        <a:t>Suitable</a:t>
                      </a:r>
                      <a:endParaRPr lang="en-US" sz="1200" b="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extLst>
                  <a:ext uri="{0D108BD9-81ED-4DB2-BD59-A6C34878D82A}">
                    <a16:rowId xmlns:a16="http://schemas.microsoft.com/office/drawing/2014/main" val="10002"/>
                  </a:ext>
                </a:extLst>
              </a:tr>
              <a:tr h="377190">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Madre de Dios</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Peru</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46.6%</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latin typeface="Calibri" charset="0"/>
                          <a:ea typeface="Calibri" charset="0"/>
                          <a:cs typeface="Calibri" charset="0"/>
                        </a:rPr>
                        <a:t>0.45</a:t>
                      </a: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b="0" dirty="0">
                          <a:solidFill>
                            <a:srgbClr val="333333"/>
                          </a:solidFill>
                          <a:latin typeface="Calibri" pitchFamily="34" charset="0"/>
                          <a:ea typeface="Calibri" pitchFamily="34" charset="-122"/>
                          <a:cs typeface="Calibri" pitchFamily="34" charset="-120"/>
                        </a:rPr>
                        <a:t>Suitable</a:t>
                      </a:r>
                      <a:endParaRPr lang="en-US" sz="1200" b="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extLst>
                  <a:ext uri="{0D108BD9-81ED-4DB2-BD59-A6C34878D82A}">
                    <a16:rowId xmlns:a16="http://schemas.microsoft.com/office/drawing/2014/main" val="10003"/>
                  </a:ext>
                </a:extLst>
              </a:tr>
              <a:tr h="377190">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San Martín</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Peru</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40.1%</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latin typeface="Calibri" charset="0"/>
                          <a:ea typeface="Calibri" charset="0"/>
                          <a:cs typeface="Calibri" charset="0"/>
                        </a:rPr>
                        <a:t>0.43</a:t>
                      </a: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b="0" dirty="0">
                          <a:solidFill>
                            <a:srgbClr val="333333"/>
                          </a:solidFill>
                          <a:latin typeface="Calibri" pitchFamily="34" charset="0"/>
                          <a:ea typeface="Calibri" pitchFamily="34" charset="-122"/>
                          <a:cs typeface="Calibri" pitchFamily="34" charset="-120"/>
                        </a:rPr>
                        <a:t>Marginally Suitable</a:t>
                      </a:r>
                      <a:endParaRPr lang="en-US" sz="1200" b="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extLst>
                  <a:ext uri="{0D108BD9-81ED-4DB2-BD59-A6C34878D82A}">
                    <a16:rowId xmlns:a16="http://schemas.microsoft.com/office/drawing/2014/main" val="10004"/>
                  </a:ext>
                </a:extLst>
              </a:tr>
              <a:tr h="377190">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Huánuco</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333333"/>
                          </a:solidFill>
                          <a:latin typeface="Calibri" pitchFamily="34" charset="0"/>
                          <a:ea typeface="Calibri" pitchFamily="34" charset="-122"/>
                          <a:cs typeface="Calibri" pitchFamily="34" charset="-120"/>
                        </a:rPr>
                        <a:t>Peru</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333333"/>
                          </a:solidFill>
                          <a:latin typeface="Calibri" pitchFamily="34" charset="0"/>
                          <a:ea typeface="Calibri" pitchFamily="34" charset="-122"/>
                          <a:cs typeface="Calibri" pitchFamily="34" charset="-120"/>
                        </a:rPr>
                        <a:t>30.8%</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latin typeface="Calibri" charset="0"/>
                          <a:ea typeface="Calibri" charset="0"/>
                          <a:cs typeface="Calibri" charset="0"/>
                        </a:rPr>
                        <a:t>0.25</a:t>
                      </a: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a:solidFill>
                            <a:srgbClr val="333333"/>
                          </a:solidFill>
                          <a:latin typeface="Calibri" pitchFamily="34" charset="0"/>
                          <a:ea typeface="Calibri" pitchFamily="34" charset="-122"/>
                          <a:cs typeface="Calibri" pitchFamily="34" charset="-120"/>
                        </a:rPr>
                        <a:t>Marginally Suitable</a:t>
                      </a:r>
                      <a:endParaRPr lang="en-US" sz="1200" b="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extLst>
                  <a:ext uri="{0D108BD9-81ED-4DB2-BD59-A6C34878D82A}">
                    <a16:rowId xmlns:a16="http://schemas.microsoft.com/office/drawing/2014/main" val="12453977"/>
                  </a:ext>
                </a:extLst>
              </a:tr>
              <a:tr h="377190">
                <a:tc>
                  <a:txBody>
                    <a:bodyPr/>
                    <a:lstStyle/>
                    <a:p>
                      <a:pPr marL="0" indent="0" algn="ctr">
                        <a:buNone/>
                      </a:pPr>
                      <a:r>
                        <a:rPr lang="en-US" sz="1200" dirty="0">
                          <a:latin typeface="Calibri" charset="0"/>
                          <a:ea typeface="Calibri" charset="0"/>
                          <a:cs typeface="Calibri" charset="0"/>
                        </a:rPr>
                        <a:t>Pasco</a:t>
                      </a: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Peru</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latin typeface="Calibri" charset="0"/>
                          <a:ea typeface="Calibri" charset="0"/>
                          <a:cs typeface="Calibri" charset="0"/>
                        </a:rPr>
                        <a:t>22.6%</a:t>
                      </a: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latin typeface="Calibri" charset="0"/>
                          <a:ea typeface="Calibri" charset="0"/>
                          <a:cs typeface="Calibri" charset="0"/>
                        </a:rPr>
                        <a:t>0.29</a:t>
                      </a: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b="0" dirty="0">
                          <a:solidFill>
                            <a:srgbClr val="333333"/>
                          </a:solidFill>
                          <a:latin typeface="Calibri" pitchFamily="34" charset="0"/>
                          <a:ea typeface="Calibri" pitchFamily="34" charset="-122"/>
                          <a:cs typeface="Calibri" pitchFamily="34" charset="-120"/>
                        </a:rPr>
                        <a:t>Marginally Suitable</a:t>
                      </a:r>
                      <a:endParaRPr lang="en-US" sz="1200" b="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extLst>
                  <a:ext uri="{0D108BD9-81ED-4DB2-BD59-A6C34878D82A}">
                    <a16:rowId xmlns:a16="http://schemas.microsoft.com/office/drawing/2014/main" val="10005"/>
                  </a:ext>
                </a:extLst>
              </a:tr>
              <a:tr h="377190">
                <a:tc>
                  <a:txBody>
                    <a:bodyPr/>
                    <a:lstStyle/>
                    <a:p>
                      <a:pPr marL="0" indent="0" algn="ctr">
                        <a:buNone/>
                      </a:pPr>
                      <a:r>
                        <a:rPr lang="en-US" sz="1200" dirty="0">
                          <a:latin typeface="Calibri" charset="0"/>
                          <a:ea typeface="Calibri" charset="0"/>
                          <a:cs typeface="Calibri" charset="0"/>
                        </a:rPr>
                        <a:t>Ucayali</a:t>
                      </a: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333333"/>
                          </a:solidFill>
                          <a:latin typeface="Calibri" pitchFamily="34" charset="0"/>
                          <a:ea typeface="Calibri" pitchFamily="34" charset="-122"/>
                          <a:cs typeface="Calibri" pitchFamily="34" charset="-120"/>
                        </a:rPr>
                        <a:t>Peru</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latin typeface="Calibri" charset="0"/>
                          <a:ea typeface="Calibri" charset="0"/>
                          <a:cs typeface="Calibri" charset="0"/>
                        </a:rPr>
                        <a:t>18.3%</a:t>
                      </a: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latin typeface="Calibri" charset="0"/>
                          <a:ea typeface="Calibri" charset="0"/>
                          <a:cs typeface="Calibri" charset="0"/>
                        </a:rPr>
                        <a:t>0.34</a:t>
                      </a: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b="0" dirty="0">
                          <a:solidFill>
                            <a:srgbClr val="333333"/>
                          </a:solidFill>
                          <a:latin typeface="Calibri" pitchFamily="34" charset="0"/>
                          <a:ea typeface="Calibri" pitchFamily="34" charset="-122"/>
                          <a:cs typeface="Calibri" pitchFamily="34" charset="-120"/>
                        </a:rPr>
                        <a:t>Marginally Suitable</a:t>
                      </a:r>
                      <a:endParaRPr lang="en-US" sz="1200" b="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extLst>
                  <a:ext uri="{0D108BD9-81ED-4DB2-BD59-A6C34878D82A}">
                    <a16:rowId xmlns:a16="http://schemas.microsoft.com/office/drawing/2014/main" val="1100700307"/>
                  </a:ext>
                </a:extLst>
              </a:tr>
              <a:tr h="377190">
                <a:tc>
                  <a:txBody>
                    <a:bodyPr/>
                    <a:lstStyle/>
                    <a:p>
                      <a:pPr marL="0" indent="0" algn="ctr">
                        <a:buNone/>
                      </a:pPr>
                      <a:r>
                        <a:rPr lang="en-US" sz="1200" dirty="0">
                          <a:latin typeface="Calibri" charset="0"/>
                          <a:ea typeface="Calibri" charset="0"/>
                          <a:cs typeface="Calibri" charset="0"/>
                        </a:rPr>
                        <a:t>Puno</a:t>
                      </a: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333333"/>
                          </a:solidFill>
                          <a:latin typeface="Calibri" pitchFamily="34" charset="0"/>
                          <a:ea typeface="Calibri" pitchFamily="34" charset="-122"/>
                          <a:cs typeface="Calibri" pitchFamily="34" charset="-120"/>
                        </a:rPr>
                        <a:t>Peru</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latin typeface="Calibri" charset="0"/>
                          <a:ea typeface="Calibri" charset="0"/>
                          <a:cs typeface="Calibri" charset="0"/>
                        </a:rPr>
                        <a:t>10.6%</a:t>
                      </a: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latin typeface="Calibri" charset="0"/>
                          <a:ea typeface="Calibri" charset="0"/>
                          <a:cs typeface="Calibri" charset="0"/>
                        </a:rPr>
                        <a:t>0.1</a:t>
                      </a: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b="0" dirty="0">
                          <a:solidFill>
                            <a:srgbClr val="333333"/>
                          </a:solidFill>
                          <a:latin typeface="Calibri" pitchFamily="34" charset="0"/>
                          <a:ea typeface="Calibri" pitchFamily="34" charset="-122"/>
                          <a:cs typeface="Calibri" pitchFamily="34" charset="-120"/>
                        </a:rPr>
                        <a:t>Not Suitable</a:t>
                      </a:r>
                      <a:endParaRPr lang="en-US" sz="1200" b="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extLst>
                  <a:ext uri="{0D108BD9-81ED-4DB2-BD59-A6C34878D82A}">
                    <a16:rowId xmlns:a16="http://schemas.microsoft.com/office/drawing/2014/main" val="3042784700"/>
                  </a:ext>
                </a:extLst>
              </a:tr>
              <a:tr h="377190">
                <a:tc>
                  <a:txBody>
                    <a:bodyPr/>
                    <a:lstStyle/>
                    <a:p>
                      <a:pPr marL="0" indent="0" algn="ctr">
                        <a:buNone/>
                      </a:pPr>
                      <a:r>
                        <a:rPr lang="en-US" sz="1200" dirty="0">
                          <a:latin typeface="Calibri" charset="0"/>
                          <a:ea typeface="Calibri" charset="0"/>
                          <a:cs typeface="Calibri" charset="0"/>
                        </a:rPr>
                        <a:t>Junin</a:t>
                      </a: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333333"/>
                          </a:solidFill>
                          <a:latin typeface="Calibri" pitchFamily="34" charset="0"/>
                          <a:ea typeface="Calibri" pitchFamily="34" charset="-122"/>
                          <a:cs typeface="Calibri" pitchFamily="34" charset="-120"/>
                        </a:rPr>
                        <a:t>Peru</a:t>
                      </a: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latin typeface="Calibri" charset="0"/>
                          <a:ea typeface="Calibri" charset="0"/>
                          <a:cs typeface="Calibri" charset="0"/>
                        </a:rPr>
                        <a:t>8.5%</a:t>
                      </a: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latin typeface="Calibri" charset="0"/>
                          <a:ea typeface="Calibri" charset="0"/>
                          <a:cs typeface="Calibri" charset="0"/>
                        </a:rPr>
                        <a:t>0.14</a:t>
                      </a: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b="0" dirty="0">
                          <a:solidFill>
                            <a:srgbClr val="333333"/>
                          </a:solidFill>
                          <a:latin typeface="Calibri" pitchFamily="34" charset="0"/>
                          <a:ea typeface="Calibri" pitchFamily="34" charset="-122"/>
                          <a:cs typeface="Calibri" pitchFamily="34" charset="-120"/>
                        </a:rPr>
                        <a:t>Not Suitable</a:t>
                      </a:r>
                      <a:endParaRPr lang="en-US" sz="1200" b="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extLst>
                  <a:ext uri="{0D108BD9-81ED-4DB2-BD59-A6C34878D82A}">
                    <a16:rowId xmlns:a16="http://schemas.microsoft.com/office/drawing/2014/main" val="759765381"/>
                  </a:ext>
                </a:extLst>
              </a:tr>
              <a:tr h="377190">
                <a:tc>
                  <a:txBody>
                    <a:bodyPr/>
                    <a:lstStyle/>
                    <a:p>
                      <a:pPr marL="0" indent="0" algn="ctr">
                        <a:buNone/>
                      </a:pPr>
                      <a:r>
                        <a:rPr lang="en-US" sz="1200" dirty="0">
                          <a:latin typeface="Calibri" charset="0"/>
                          <a:ea typeface="Calibri" charset="0"/>
                          <a:cs typeface="Calibri" charset="0"/>
                        </a:rPr>
                        <a:t>Cusco</a:t>
                      </a: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333333"/>
                          </a:solidFill>
                          <a:latin typeface="Calibri" pitchFamily="34" charset="0"/>
                          <a:ea typeface="Calibri" pitchFamily="34" charset="-122"/>
                          <a:cs typeface="Calibri" pitchFamily="34" charset="-120"/>
                        </a:rPr>
                        <a:t>Peru</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latin typeface="Calibri" charset="0"/>
                          <a:ea typeface="Calibri" charset="0"/>
                          <a:cs typeface="Calibri" charset="0"/>
                        </a:rPr>
                        <a:t>6.2%</a:t>
                      </a: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latin typeface="Calibri" charset="0"/>
                          <a:ea typeface="Calibri" charset="0"/>
                          <a:cs typeface="Calibri" charset="0"/>
                        </a:rPr>
                        <a:t>0.12</a:t>
                      </a: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b="0" dirty="0">
                          <a:solidFill>
                            <a:srgbClr val="333333"/>
                          </a:solidFill>
                          <a:latin typeface="Calibri" pitchFamily="34" charset="0"/>
                          <a:ea typeface="Calibri" pitchFamily="34" charset="-122"/>
                          <a:cs typeface="Calibri" pitchFamily="34" charset="-120"/>
                        </a:rPr>
                        <a:t>Not Suitable</a:t>
                      </a:r>
                      <a:endParaRPr lang="en-US" sz="1200" b="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extLst>
                  <a:ext uri="{0D108BD9-81ED-4DB2-BD59-A6C34878D82A}">
                    <a16:rowId xmlns:a16="http://schemas.microsoft.com/office/drawing/2014/main" val="169551947"/>
                  </a:ext>
                </a:extLst>
              </a:tr>
              <a:tr h="377190">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Lâm Đồng</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Vietnam</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8.4%</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latin typeface="Calibri" charset="0"/>
                          <a:ea typeface="Calibri" charset="0"/>
                          <a:cs typeface="Calibri" charset="0"/>
                        </a:rPr>
                        <a:t>0.21</a:t>
                      </a: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b="0" dirty="0">
                          <a:solidFill>
                            <a:srgbClr val="333333"/>
                          </a:solidFill>
                          <a:latin typeface="Calibri" pitchFamily="34" charset="0"/>
                          <a:ea typeface="Calibri" pitchFamily="34" charset="-122"/>
                          <a:cs typeface="Calibri" pitchFamily="34" charset="-120"/>
                        </a:rPr>
                        <a:t>Not Suitable</a:t>
                      </a:r>
                      <a:endParaRPr lang="en-US" sz="1200" b="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extLst>
                  <a:ext uri="{0D108BD9-81ED-4DB2-BD59-A6C34878D82A}">
                    <a16:rowId xmlns:a16="http://schemas.microsoft.com/office/drawing/2014/main" val="10006"/>
                  </a:ext>
                </a:extLst>
              </a:tr>
              <a:tr h="377190">
                <a:tc>
                  <a:txBody>
                    <a:bodyPr/>
                    <a:lstStyle/>
                    <a:p>
                      <a:pPr marL="0" indent="0" algn="ctr">
                        <a:buNone/>
                      </a:pPr>
                      <a:r>
                        <a:rPr lang="en-US" sz="1200" dirty="0">
                          <a:latin typeface="Calibri" charset="0"/>
                          <a:ea typeface="Calibri" charset="0"/>
                          <a:cs typeface="Calibri" charset="0"/>
                        </a:rPr>
                        <a:t>Bình </a:t>
                      </a:r>
                      <a:r>
                        <a:rPr lang="en-US" sz="1200" dirty="0" err="1">
                          <a:latin typeface="Calibri" charset="0"/>
                          <a:ea typeface="Calibri" charset="0"/>
                          <a:cs typeface="Calibri" charset="0"/>
                        </a:rPr>
                        <a:t>Thuận</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333333"/>
                          </a:solidFill>
                          <a:latin typeface="Calibri" pitchFamily="34" charset="0"/>
                          <a:ea typeface="Calibri" pitchFamily="34" charset="-122"/>
                          <a:cs typeface="Calibri" pitchFamily="34" charset="-120"/>
                        </a:rPr>
                        <a:t>Vietnam</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latin typeface="Calibri" charset="0"/>
                          <a:ea typeface="Calibri" charset="0"/>
                          <a:cs typeface="Calibri" charset="0"/>
                        </a:rPr>
                        <a:t>1.3%</a:t>
                      </a: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latin typeface="Calibri" charset="0"/>
                          <a:ea typeface="Calibri" charset="0"/>
                          <a:cs typeface="Calibri" charset="0"/>
                        </a:rPr>
                        <a:t>0.03</a:t>
                      </a: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b="0" dirty="0">
                          <a:solidFill>
                            <a:srgbClr val="333333"/>
                          </a:solidFill>
                          <a:latin typeface="Calibri" pitchFamily="34" charset="0"/>
                          <a:ea typeface="Calibri" pitchFamily="34" charset="-122"/>
                          <a:cs typeface="Calibri" pitchFamily="34" charset="-120"/>
                        </a:rPr>
                        <a:t>Not Suitable</a:t>
                      </a:r>
                      <a:endParaRPr lang="en-US" sz="1200" b="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extLst>
                  <a:ext uri="{0D108BD9-81ED-4DB2-BD59-A6C34878D82A}">
                    <a16:rowId xmlns:a16="http://schemas.microsoft.com/office/drawing/2014/main" val="2966652368"/>
                  </a:ext>
                </a:extLst>
              </a:tr>
              <a:tr h="377190">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Kagera</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Tanzania</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solidFill>
                            <a:srgbClr val="333333"/>
                          </a:solidFill>
                          <a:latin typeface="Calibri" pitchFamily="34" charset="0"/>
                          <a:ea typeface="Calibri" pitchFamily="34" charset="-122"/>
                          <a:cs typeface="Calibri" pitchFamily="34" charset="-120"/>
                        </a:rPr>
                        <a:t>2.9%</a:t>
                      </a:r>
                      <a:endParaRPr lang="en-US" sz="120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dirty="0">
                          <a:latin typeface="Calibri" charset="0"/>
                          <a:ea typeface="Calibri" charset="0"/>
                          <a:cs typeface="Calibri" charset="0"/>
                        </a:rPr>
                        <a:t>0.05</a:t>
                      </a: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tc>
                  <a:txBody>
                    <a:bodyPr/>
                    <a:lstStyle/>
                    <a:p>
                      <a:pPr marL="0" indent="0" algn="ctr">
                        <a:buNone/>
                      </a:pPr>
                      <a:r>
                        <a:rPr lang="en-US" sz="1200" b="0" dirty="0">
                          <a:solidFill>
                            <a:srgbClr val="333333"/>
                          </a:solidFill>
                          <a:latin typeface="Calibri" pitchFamily="34" charset="0"/>
                          <a:ea typeface="Calibri" pitchFamily="34" charset="-122"/>
                          <a:cs typeface="Calibri" pitchFamily="34" charset="-120"/>
                        </a:rPr>
                        <a:t>Not Suitable</a:t>
                      </a:r>
                      <a:endParaRPr lang="en-US" sz="1200" b="0" dirty="0">
                        <a:latin typeface="Calibri" charset="0"/>
                        <a:ea typeface="Calibri" charset="0"/>
                        <a:cs typeface="Calibri" charset="0"/>
                      </a:endParaRPr>
                    </a:p>
                  </a:txBody>
                  <a:tcPr anchor="ctr">
                    <a:lnL w="6350" cap="flat" cmpd="sng" algn="ctr">
                      <a:solidFill>
                        <a:srgbClr val="DADAD2"/>
                      </a:solidFill>
                      <a:prstDash val="solid"/>
                      <a:round/>
                      <a:headEnd type="none" w="med" len="med"/>
                      <a:tailEnd type="none" w="med" len="med"/>
                    </a:lnL>
                    <a:lnR w="6350" cap="flat" cmpd="sng" algn="ctr">
                      <a:solidFill>
                        <a:srgbClr val="DADAD2"/>
                      </a:solidFill>
                      <a:prstDash val="solid"/>
                      <a:round/>
                      <a:headEnd type="none" w="med" len="med"/>
                      <a:tailEnd type="none" w="med" len="med"/>
                    </a:lnR>
                    <a:lnT w="6350" cap="flat" cmpd="sng" algn="ctr">
                      <a:solidFill>
                        <a:srgbClr val="DADAD2"/>
                      </a:solidFill>
                      <a:prstDash val="solid"/>
                      <a:round/>
                      <a:headEnd type="none" w="med" len="med"/>
                      <a:tailEnd type="none" w="med" len="med"/>
                    </a:lnT>
                    <a:lnB w="6350" cap="flat" cmpd="sng" algn="ctr">
                      <a:solidFill>
                        <a:srgbClr val="DADAD2"/>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pic>
        <p:nvPicPr>
          <p:cNvPr id="19" name="Picture 18">
            <a:extLst>
              <a:ext uri="{FF2B5EF4-FFF2-40B4-BE49-F238E27FC236}">
                <a16:creationId xmlns:a16="http://schemas.microsoft.com/office/drawing/2014/main" id="{82FCACBA-96C8-442D-D6EB-0F86B2499747}"/>
              </a:ext>
            </a:extLst>
          </p:cNvPr>
          <p:cNvPicPr>
            <a:picLocks noChangeAspect="1"/>
          </p:cNvPicPr>
          <p:nvPr/>
        </p:nvPicPr>
        <p:blipFill>
          <a:blip r:embed="rId3">
            <a:duotone>
              <a:prstClr val="black"/>
              <a:srgbClr val="FFFFFF">
                <a:tint val="45000"/>
                <a:satMod val="400000"/>
              </a:srgbClr>
            </a:duotone>
          </a:blip>
          <a:stretch>
            <a:fillRect/>
          </a:stretch>
        </p:blipFill>
        <p:spPr>
          <a:xfrm>
            <a:off x="1524" y="6000857"/>
            <a:ext cx="857143" cy="857143"/>
          </a:xfrm>
          <a:prstGeom prst="rect">
            <a:avLst/>
          </a:prstGeom>
        </p:spPr>
      </p:pic>
      <p:sp>
        <p:nvSpPr>
          <p:cNvPr id="5" name="Shape 2">
            <a:extLst>
              <a:ext uri="{FF2B5EF4-FFF2-40B4-BE49-F238E27FC236}">
                <a16:creationId xmlns:a16="http://schemas.microsoft.com/office/drawing/2014/main" id="{2665CFD3-B0B4-E9DC-4697-7A9AF4FEEE40}"/>
              </a:ext>
            </a:extLst>
          </p:cNvPr>
          <p:cNvSpPr/>
          <p:nvPr/>
        </p:nvSpPr>
        <p:spPr>
          <a:xfrm>
            <a:off x="8919411" y="2077452"/>
            <a:ext cx="3015915" cy="2221832"/>
          </a:xfrm>
          <a:prstGeom prst="rect">
            <a:avLst/>
          </a:prstGeom>
          <a:solidFill>
            <a:srgbClr val="F7F7F2"/>
          </a:solidFill>
          <a:ln/>
        </p:spPr>
        <p:txBody>
          <a:bodyPr/>
          <a:lstStyle/>
          <a:p>
            <a:endParaRPr lang="en-NL"/>
          </a:p>
        </p:txBody>
      </p:sp>
      <p:sp>
        <p:nvSpPr>
          <p:cNvPr id="9" name="Text 3">
            <a:extLst>
              <a:ext uri="{FF2B5EF4-FFF2-40B4-BE49-F238E27FC236}">
                <a16:creationId xmlns:a16="http://schemas.microsoft.com/office/drawing/2014/main" id="{CBF673A2-7696-A757-3719-330AD63D81D1}"/>
              </a:ext>
            </a:extLst>
          </p:cNvPr>
          <p:cNvSpPr txBox="1"/>
          <p:nvPr/>
        </p:nvSpPr>
        <p:spPr>
          <a:xfrm>
            <a:off x="9047747" y="2351772"/>
            <a:ext cx="3383280" cy="320040"/>
          </a:xfrm>
          <a:prstGeom prst="rect">
            <a:avLst/>
          </a:prstGeom>
          <a:noFill/>
          <a:ln/>
        </p:spPr>
        <p:txBody>
          <a:bodyPr wrap="square" rtlCol="0" anchor="ctr"/>
          <a:lstStyle/>
          <a:p>
            <a:pPr marL="0" indent="0">
              <a:buNone/>
            </a:pPr>
            <a:r>
              <a:rPr lang="en-US" b="1" dirty="0">
                <a:solidFill>
                  <a:srgbClr val="2C5F2D"/>
                </a:solidFill>
                <a:latin typeface="Calibri" pitchFamily="34" charset="0"/>
                <a:ea typeface="Calibri" pitchFamily="34" charset="-122"/>
                <a:cs typeface="Calibri" pitchFamily="34" charset="-120"/>
              </a:rPr>
              <a:t>Suitability Scale</a:t>
            </a:r>
            <a:endParaRPr lang="en-US" dirty="0"/>
          </a:p>
        </p:txBody>
      </p:sp>
      <p:sp>
        <p:nvSpPr>
          <p:cNvPr id="13" name="Text 4">
            <a:extLst>
              <a:ext uri="{FF2B5EF4-FFF2-40B4-BE49-F238E27FC236}">
                <a16:creationId xmlns:a16="http://schemas.microsoft.com/office/drawing/2014/main" id="{73F11F64-AE62-85F4-DD49-D0B72B4B3245}"/>
              </a:ext>
            </a:extLst>
          </p:cNvPr>
          <p:cNvSpPr txBox="1"/>
          <p:nvPr/>
        </p:nvSpPr>
        <p:spPr>
          <a:xfrm>
            <a:off x="9047747" y="2671812"/>
            <a:ext cx="2887579" cy="1460432"/>
          </a:xfrm>
          <a:prstGeom prst="rect">
            <a:avLst/>
          </a:prstGeom>
          <a:noFill/>
          <a:ln/>
        </p:spPr>
        <p:txBody>
          <a:bodyPr wrap="square" rtlCol="0" anchor="ctr"/>
          <a:lstStyle/>
          <a:p>
            <a:pPr>
              <a:spcAft>
                <a:spcPts val="400"/>
              </a:spcAft>
            </a:pPr>
            <a:r>
              <a:rPr lang="en-US" sz="1600" b="1" dirty="0">
                <a:solidFill>
                  <a:srgbClr val="333333"/>
                </a:solidFill>
                <a:latin typeface="Calibri" pitchFamily="34" charset="0"/>
                <a:ea typeface="Calibri" pitchFamily="34" charset="-122"/>
                <a:cs typeface="Calibri" pitchFamily="34" charset="-120"/>
              </a:rPr>
              <a:t>Highly Suitable:        </a:t>
            </a:r>
            <a:r>
              <a:rPr lang="en-US" sz="1600" dirty="0">
                <a:solidFill>
                  <a:srgbClr val="333333"/>
                </a:solidFill>
                <a:latin typeface="Calibri" pitchFamily="34" charset="0"/>
                <a:ea typeface="Calibri" pitchFamily="34" charset="-122"/>
                <a:cs typeface="Calibri" pitchFamily="34" charset="-120"/>
              </a:rPr>
              <a:t>0.75 to 1.00
</a:t>
            </a:r>
            <a:r>
              <a:rPr lang="en-US" sz="1600" b="1" dirty="0">
                <a:solidFill>
                  <a:srgbClr val="333333"/>
                </a:solidFill>
                <a:latin typeface="Calibri" pitchFamily="34" charset="0"/>
                <a:ea typeface="Calibri" pitchFamily="34" charset="-122"/>
                <a:cs typeface="Calibri" pitchFamily="34" charset="-120"/>
              </a:rPr>
              <a:t>Suitable:                       </a:t>
            </a:r>
            <a:r>
              <a:rPr lang="en-US" sz="1600" dirty="0">
                <a:solidFill>
                  <a:srgbClr val="333333"/>
                </a:solidFill>
                <a:latin typeface="Calibri" pitchFamily="34" charset="0"/>
                <a:ea typeface="Calibri" pitchFamily="34" charset="-122"/>
                <a:cs typeface="Calibri" pitchFamily="34" charset="-120"/>
              </a:rPr>
              <a:t>0.5 to 0.75</a:t>
            </a:r>
            <a:r>
              <a:rPr lang="en-US" sz="1600" b="1" dirty="0">
                <a:solidFill>
                  <a:srgbClr val="333333"/>
                </a:solidFill>
                <a:latin typeface="Calibri" pitchFamily="34" charset="0"/>
                <a:ea typeface="Calibri" pitchFamily="34" charset="-122"/>
                <a:cs typeface="Calibri" pitchFamily="34" charset="-120"/>
              </a:rPr>
              <a:t> </a:t>
            </a:r>
            <a:r>
              <a:rPr lang="en-US" sz="1600" dirty="0">
                <a:solidFill>
                  <a:srgbClr val="333333"/>
                </a:solidFill>
                <a:latin typeface="Calibri" pitchFamily="34" charset="0"/>
                <a:ea typeface="Calibri" pitchFamily="34" charset="-122"/>
                <a:cs typeface="Calibri" pitchFamily="34" charset="-120"/>
              </a:rPr>
              <a:t>
</a:t>
            </a:r>
            <a:r>
              <a:rPr lang="en-US" sz="1600" b="1" dirty="0">
                <a:solidFill>
                  <a:srgbClr val="333333"/>
                </a:solidFill>
                <a:latin typeface="Calibri" pitchFamily="34" charset="0"/>
                <a:ea typeface="Calibri" pitchFamily="34" charset="-122"/>
                <a:cs typeface="Calibri" pitchFamily="34" charset="-120"/>
              </a:rPr>
              <a:t>Marginally Suitable:  </a:t>
            </a:r>
            <a:r>
              <a:rPr lang="en-US" sz="1600" dirty="0">
                <a:solidFill>
                  <a:srgbClr val="333333"/>
                </a:solidFill>
                <a:latin typeface="Calibri" pitchFamily="34" charset="0"/>
                <a:ea typeface="Calibri" pitchFamily="34" charset="-122"/>
                <a:cs typeface="Calibri" pitchFamily="34" charset="-120"/>
              </a:rPr>
              <a:t>0.25 to 0.5</a:t>
            </a:r>
          </a:p>
          <a:p>
            <a:pPr>
              <a:spcAft>
                <a:spcPts val="400"/>
              </a:spcAft>
            </a:pPr>
            <a:r>
              <a:rPr lang="en-US" sz="1600" b="1" dirty="0">
                <a:solidFill>
                  <a:srgbClr val="333333"/>
                </a:solidFill>
                <a:latin typeface="Calibri" pitchFamily="34" charset="0"/>
                <a:ea typeface="Calibri" pitchFamily="34" charset="-122"/>
                <a:cs typeface="Calibri" pitchFamily="34" charset="-120"/>
              </a:rPr>
              <a:t>Not Suitable:                  </a:t>
            </a:r>
            <a:r>
              <a:rPr lang="en-US" sz="1600" dirty="0">
                <a:solidFill>
                  <a:srgbClr val="333333"/>
                </a:solidFill>
                <a:latin typeface="Calibri" pitchFamily="34" charset="0"/>
                <a:ea typeface="Calibri" pitchFamily="34" charset="-122"/>
                <a:cs typeface="Calibri" pitchFamily="34" charset="-120"/>
              </a:rPr>
              <a:t>0 to 0.25</a:t>
            </a:r>
            <a:endParaRPr lang="en-US" sz="1600" dirty="0"/>
          </a:p>
        </p:txBody>
      </p:sp>
    </p:spTree>
    <p:extLst>
      <p:ext uri="{BB962C8B-B14F-4D97-AF65-F5344CB8AC3E}">
        <p14:creationId xmlns:p14="http://schemas.microsoft.com/office/powerpoint/2010/main" val="1777795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5824EF0-A386-DE86-3B6A-4532D0A21B19}"/>
              </a:ext>
            </a:extLst>
          </p:cNvPr>
          <p:cNvPicPr>
            <a:picLocks noChangeAspect="1"/>
          </p:cNvPicPr>
          <p:nvPr/>
        </p:nvPicPr>
        <p:blipFill>
          <a:blip r:embed="rId2"/>
          <a:srcRect r="984" b="2"/>
          <a:stretch>
            <a:fillRect/>
          </a:stretch>
        </p:blipFill>
        <p:spPr>
          <a:xfrm>
            <a:off x="4846822" y="557189"/>
            <a:ext cx="7040377" cy="6033859"/>
          </a:xfrm>
          <a:prstGeom prst="rect">
            <a:avLst/>
          </a:prstGeom>
        </p:spPr>
      </p:pic>
      <p:pic>
        <p:nvPicPr>
          <p:cNvPr id="3" name="Picture 2">
            <a:extLst>
              <a:ext uri="{FF2B5EF4-FFF2-40B4-BE49-F238E27FC236}">
                <a16:creationId xmlns:a16="http://schemas.microsoft.com/office/drawing/2014/main" id="{68D3454A-4B6F-55E9-0EE0-6E16F07EE1AB}"/>
              </a:ext>
            </a:extLst>
          </p:cNvPr>
          <p:cNvPicPr>
            <a:picLocks noChangeAspect="1"/>
          </p:cNvPicPr>
          <p:nvPr/>
        </p:nvPicPr>
        <p:blipFill>
          <a:blip r:embed="rId3"/>
          <a:srcRect r="3" b="2396"/>
          <a:stretch>
            <a:fillRect/>
          </a:stretch>
        </p:blipFill>
        <p:spPr>
          <a:xfrm>
            <a:off x="540091" y="417024"/>
            <a:ext cx="4765504" cy="2646675"/>
          </a:xfrm>
          <a:prstGeom prst="rect">
            <a:avLst/>
          </a:prstGeom>
        </p:spPr>
      </p:pic>
      <p:pic>
        <p:nvPicPr>
          <p:cNvPr id="9" name="Picture 8">
            <a:extLst>
              <a:ext uri="{FF2B5EF4-FFF2-40B4-BE49-F238E27FC236}">
                <a16:creationId xmlns:a16="http://schemas.microsoft.com/office/drawing/2014/main" id="{9FA5F2A1-4065-16DC-48AF-8DC198E8F110}"/>
              </a:ext>
            </a:extLst>
          </p:cNvPr>
          <p:cNvPicPr>
            <a:picLocks noChangeAspect="1"/>
          </p:cNvPicPr>
          <p:nvPr/>
        </p:nvPicPr>
        <p:blipFill>
          <a:blip r:embed="rId4"/>
          <a:stretch>
            <a:fillRect/>
          </a:stretch>
        </p:blipFill>
        <p:spPr>
          <a:xfrm>
            <a:off x="540091" y="3102264"/>
            <a:ext cx="4674163" cy="3633383"/>
          </a:xfrm>
          <a:prstGeom prst="rect">
            <a:avLst/>
          </a:prstGeom>
        </p:spPr>
      </p:pic>
      <p:pic>
        <p:nvPicPr>
          <p:cNvPr id="11" name="Picture 10">
            <a:extLst>
              <a:ext uri="{FF2B5EF4-FFF2-40B4-BE49-F238E27FC236}">
                <a16:creationId xmlns:a16="http://schemas.microsoft.com/office/drawing/2014/main" id="{09EC26BD-46EB-7FA2-DD3A-D31683F8C59E}"/>
              </a:ext>
            </a:extLst>
          </p:cNvPr>
          <p:cNvPicPr>
            <a:picLocks noChangeAspect="1"/>
          </p:cNvPicPr>
          <p:nvPr/>
        </p:nvPicPr>
        <p:blipFill>
          <a:blip r:embed="rId5">
            <a:duotone>
              <a:prstClr val="black"/>
              <a:srgbClr val="FFFFFF">
                <a:tint val="45000"/>
                <a:satMod val="400000"/>
              </a:srgbClr>
            </a:duotone>
          </a:blip>
          <a:stretch>
            <a:fillRect/>
          </a:stretch>
        </p:blipFill>
        <p:spPr>
          <a:xfrm>
            <a:off x="1524" y="6000857"/>
            <a:ext cx="857143" cy="857143"/>
          </a:xfrm>
          <a:prstGeom prst="rect">
            <a:avLst/>
          </a:prstGeom>
        </p:spPr>
      </p:pic>
      <p:sp>
        <p:nvSpPr>
          <p:cNvPr id="17" name="Text 0">
            <a:extLst>
              <a:ext uri="{FF2B5EF4-FFF2-40B4-BE49-F238E27FC236}">
                <a16:creationId xmlns:a16="http://schemas.microsoft.com/office/drawing/2014/main" id="{F9C8C905-4218-AEC7-5E13-9262320D0459}"/>
              </a:ext>
            </a:extLst>
          </p:cNvPr>
          <p:cNvSpPr txBox="1"/>
          <p:nvPr/>
        </p:nvSpPr>
        <p:spPr>
          <a:xfrm>
            <a:off x="430095" y="160020"/>
            <a:ext cx="10972800" cy="320040"/>
          </a:xfrm>
          <a:prstGeom prst="rect">
            <a:avLst/>
          </a:prstGeom>
          <a:noFill/>
          <a:ln/>
        </p:spPr>
        <p:txBody>
          <a:bodyPr wrap="square" rtlCol="0" anchor="ctr"/>
          <a:lstStyle/>
          <a:p>
            <a:pPr marL="0" indent="0">
              <a:buNone/>
            </a:pPr>
            <a:r>
              <a:rPr lang="en-US" sz="1200" b="1" kern="0" spc="200" dirty="0">
                <a:solidFill>
                  <a:srgbClr val="6E9B4F"/>
                </a:solidFill>
                <a:latin typeface="Calibri" pitchFamily="34" charset="0"/>
                <a:ea typeface="Calibri" pitchFamily="34" charset="-122"/>
                <a:cs typeface="Calibri" pitchFamily="34" charset="-120"/>
              </a:rPr>
              <a:t>RESULTS</a:t>
            </a:r>
            <a:endParaRPr lang="en-US" sz="1200" dirty="0"/>
          </a:p>
        </p:txBody>
      </p:sp>
    </p:spTree>
    <p:extLst>
      <p:ext uri="{BB962C8B-B14F-4D97-AF65-F5344CB8AC3E}">
        <p14:creationId xmlns:p14="http://schemas.microsoft.com/office/powerpoint/2010/main" val="1426680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2C5F2D"/>
        </a:solidFill>
        <a:effectLst/>
      </p:bgPr>
    </p:bg>
    <p:spTree>
      <p:nvGrpSpPr>
        <p:cNvPr id="1" name=""/>
        <p:cNvGrpSpPr/>
        <p:nvPr/>
      </p:nvGrpSpPr>
      <p:grpSpPr>
        <a:xfrm>
          <a:off x="0" y="0"/>
          <a:ext cx="0" cy="0"/>
          <a:chOff x="0" y="0"/>
          <a:chExt cx="0" cy="0"/>
        </a:xfrm>
      </p:grpSpPr>
      <p:sp>
        <p:nvSpPr>
          <p:cNvPr id="2" name="Text 0"/>
          <p:cNvSpPr txBox="1"/>
          <p:nvPr/>
        </p:nvSpPr>
        <p:spPr>
          <a:xfrm>
            <a:off x="731520" y="434340"/>
            <a:ext cx="1069848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Conclusions &amp; Recommendations</a:t>
            </a:r>
            <a:endParaRPr lang="en-US" sz="3200" dirty="0"/>
          </a:p>
        </p:txBody>
      </p:sp>
      <p:sp>
        <p:nvSpPr>
          <p:cNvPr id="3" name="Shape 1"/>
          <p:cNvSpPr/>
          <p:nvPr/>
        </p:nvSpPr>
        <p:spPr>
          <a:xfrm>
            <a:off x="685800" y="1405467"/>
            <a:ext cx="320040" cy="320040"/>
          </a:xfrm>
          <a:prstGeom prst="ellipse">
            <a:avLst/>
          </a:prstGeom>
          <a:solidFill>
            <a:srgbClr val="6E9B4F"/>
          </a:solidFill>
          <a:ln/>
        </p:spPr>
        <p:txBody>
          <a:bodyPr/>
          <a:lstStyle/>
          <a:p>
            <a:endParaRPr lang="en-NL"/>
          </a:p>
        </p:txBody>
      </p:sp>
      <p:sp>
        <p:nvSpPr>
          <p:cNvPr id="4" name="Text 2"/>
          <p:cNvSpPr txBox="1"/>
          <p:nvPr/>
        </p:nvSpPr>
        <p:spPr>
          <a:xfrm>
            <a:off x="685800" y="1405467"/>
            <a:ext cx="32004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txBox="1"/>
          <p:nvPr/>
        </p:nvSpPr>
        <p:spPr>
          <a:xfrm>
            <a:off x="1188720" y="1577340"/>
            <a:ext cx="10241280" cy="1005840"/>
          </a:xfrm>
          <a:prstGeom prst="rect">
            <a:avLst/>
          </a:prstGeom>
          <a:noFill/>
          <a:ln/>
        </p:spPr>
        <p:txBody>
          <a:bodyPr wrap="square" rtlCol="0" anchor="ctr"/>
          <a:lstStyle/>
          <a:p>
            <a:pPr algn="just"/>
            <a:r>
              <a:rPr lang="en-US" sz="2000" dirty="0">
                <a:solidFill>
                  <a:srgbClr val="FFFFFF"/>
                </a:solidFill>
                <a:latin typeface="Calibri" pitchFamily="34" charset="0"/>
                <a:ea typeface="Calibri" pitchFamily="34" charset="-122"/>
                <a:cs typeface="Calibri" pitchFamily="34" charset="-120"/>
              </a:rPr>
              <a:t>Peru is the clear priority for piloting this tree, the Amazon basin (Loreto, Amazonas, Madre de Dios) offers the only substantial suitable area with the proper suitability score (0.5-1.0), found as per the table and the graph. Our recommendation would be to choose Loreto because for a Pilot project a highly suitable land has the highest probability of success and avoid loss of investments. Besides the amount of land suitable in this region is the highest.</a:t>
            </a:r>
          </a:p>
        </p:txBody>
      </p:sp>
      <p:sp>
        <p:nvSpPr>
          <p:cNvPr id="6" name="Shape 4"/>
          <p:cNvSpPr/>
          <p:nvPr/>
        </p:nvSpPr>
        <p:spPr>
          <a:xfrm>
            <a:off x="685800" y="3068955"/>
            <a:ext cx="320040" cy="320040"/>
          </a:xfrm>
          <a:prstGeom prst="ellipse">
            <a:avLst/>
          </a:prstGeom>
          <a:solidFill>
            <a:srgbClr val="6E9B4F"/>
          </a:solidFill>
          <a:ln/>
        </p:spPr>
        <p:txBody>
          <a:bodyPr/>
          <a:lstStyle/>
          <a:p>
            <a:endParaRPr lang="en-NL"/>
          </a:p>
        </p:txBody>
      </p:sp>
      <p:sp>
        <p:nvSpPr>
          <p:cNvPr id="7" name="Text 5"/>
          <p:cNvSpPr txBox="1"/>
          <p:nvPr/>
        </p:nvSpPr>
        <p:spPr>
          <a:xfrm>
            <a:off x="685800" y="3068955"/>
            <a:ext cx="32004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8" name="Text 6"/>
          <p:cNvSpPr txBox="1"/>
          <p:nvPr/>
        </p:nvSpPr>
        <p:spPr>
          <a:xfrm>
            <a:off x="1188720" y="4389543"/>
            <a:ext cx="10241280" cy="1005840"/>
          </a:xfrm>
          <a:prstGeom prst="rect">
            <a:avLst/>
          </a:prstGeom>
          <a:noFill/>
          <a:ln/>
        </p:spPr>
        <p:txBody>
          <a:bodyPr wrap="square" rtlCol="0" anchor="ctr"/>
          <a:lstStyle/>
          <a:p>
            <a:pPr marL="0" indent="0" algn="just">
              <a:buNone/>
            </a:pPr>
            <a:r>
              <a:rPr lang="en-US" sz="2000" dirty="0">
                <a:solidFill>
                  <a:srgbClr val="FFFFFF"/>
                </a:solidFill>
                <a:latin typeface="Calibri" pitchFamily="34" charset="0"/>
                <a:ea typeface="Calibri" pitchFamily="34" charset="-122"/>
                <a:cs typeface="Calibri" pitchFamily="34" charset="-120"/>
              </a:rPr>
              <a:t>Portugal shows no climatically suitable mainland area under the tree's given tolerances. Its Mediterranean dry-summer regime is the limiting factor, not soil or temperature.</a:t>
            </a:r>
            <a:endParaRPr lang="en-US" sz="2000" dirty="0"/>
          </a:p>
        </p:txBody>
      </p:sp>
      <p:sp>
        <p:nvSpPr>
          <p:cNvPr id="9" name="Shape 7"/>
          <p:cNvSpPr/>
          <p:nvPr/>
        </p:nvSpPr>
        <p:spPr>
          <a:xfrm>
            <a:off x="685800" y="4732443"/>
            <a:ext cx="320040" cy="320040"/>
          </a:xfrm>
          <a:prstGeom prst="ellipse">
            <a:avLst/>
          </a:prstGeom>
          <a:solidFill>
            <a:srgbClr val="6E9B4F"/>
          </a:solidFill>
          <a:ln/>
        </p:spPr>
        <p:txBody>
          <a:bodyPr/>
          <a:lstStyle/>
          <a:p>
            <a:endParaRPr lang="en-NL"/>
          </a:p>
        </p:txBody>
      </p:sp>
      <p:sp>
        <p:nvSpPr>
          <p:cNvPr id="10" name="Text 8"/>
          <p:cNvSpPr txBox="1"/>
          <p:nvPr/>
        </p:nvSpPr>
        <p:spPr>
          <a:xfrm>
            <a:off x="685800" y="4732443"/>
            <a:ext cx="32004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1" name="Text 9"/>
          <p:cNvSpPr txBox="1"/>
          <p:nvPr/>
        </p:nvSpPr>
        <p:spPr>
          <a:xfrm>
            <a:off x="1188720" y="5222878"/>
            <a:ext cx="10241280" cy="1005840"/>
          </a:xfrm>
          <a:prstGeom prst="rect">
            <a:avLst/>
          </a:prstGeom>
          <a:noFill/>
          <a:ln/>
        </p:spPr>
        <p:txBody>
          <a:bodyPr wrap="square" rtlCol="0" anchor="ctr"/>
          <a:lstStyle/>
          <a:p>
            <a:pPr marL="0" indent="0" algn="just">
              <a:buNone/>
            </a:pPr>
            <a:r>
              <a:rPr lang="en-US" sz="2000" dirty="0">
                <a:solidFill>
                  <a:srgbClr val="FFFFFF"/>
                </a:solidFill>
                <a:latin typeface="Calibri" pitchFamily="34" charset="0"/>
                <a:ea typeface="Calibri" pitchFamily="34" charset="-122"/>
                <a:cs typeface="Calibri" pitchFamily="34" charset="-120"/>
              </a:rPr>
              <a:t>Vietnam and Tanzania offer only small, scattered highland or lake-basin pockets but their suitability score results poor ending up in the not suitable zone.</a:t>
            </a:r>
            <a:endParaRPr lang="en-US" sz="2000" dirty="0"/>
          </a:p>
        </p:txBody>
      </p:sp>
      <p:sp>
        <p:nvSpPr>
          <p:cNvPr id="12" name="Shape 10"/>
          <p:cNvSpPr/>
          <p:nvPr/>
        </p:nvSpPr>
        <p:spPr>
          <a:xfrm>
            <a:off x="685800" y="5565778"/>
            <a:ext cx="320040" cy="320040"/>
          </a:xfrm>
          <a:prstGeom prst="ellipse">
            <a:avLst/>
          </a:prstGeom>
          <a:solidFill>
            <a:srgbClr val="6E9B4F"/>
          </a:solidFill>
          <a:ln/>
        </p:spPr>
        <p:txBody>
          <a:bodyPr/>
          <a:lstStyle/>
          <a:p>
            <a:endParaRPr lang="en-NL"/>
          </a:p>
        </p:txBody>
      </p:sp>
      <p:sp>
        <p:nvSpPr>
          <p:cNvPr id="13" name="Text 11"/>
          <p:cNvSpPr txBox="1"/>
          <p:nvPr/>
        </p:nvSpPr>
        <p:spPr>
          <a:xfrm>
            <a:off x="685800" y="5565778"/>
            <a:ext cx="320040" cy="3200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4" name="Text 12"/>
          <p:cNvSpPr txBox="1"/>
          <p:nvPr/>
        </p:nvSpPr>
        <p:spPr>
          <a:xfrm>
            <a:off x="1188720" y="3221728"/>
            <a:ext cx="10241280" cy="1005840"/>
          </a:xfrm>
          <a:prstGeom prst="rect">
            <a:avLst/>
          </a:prstGeom>
          <a:noFill/>
          <a:ln/>
        </p:spPr>
        <p:txBody>
          <a:bodyPr wrap="square" rtlCol="0" anchor="ctr"/>
          <a:lstStyle/>
          <a:p>
            <a:pPr algn="just"/>
            <a:r>
              <a:rPr lang="en-US" sz="2000" dirty="0">
                <a:solidFill>
                  <a:srgbClr val="FFFFFF"/>
                </a:solidFill>
                <a:latin typeface="Calibri" pitchFamily="34" charset="0"/>
                <a:ea typeface="Calibri" pitchFamily="34" charset="-122"/>
                <a:cs typeface="Calibri" pitchFamily="34" charset="-120"/>
              </a:rPr>
              <a:t>Amazonas and Madre de Dios are also good candidates, but they may require slightly better management or minor interventions as they were categorized as Suitable. We can also advice to add San Martin with special consideration as this region has almost the score to be suitable with a big portion of land. As this score is an average there is obviously more suitable region than the average for this province. </a:t>
            </a:r>
            <a:endParaRPr lang="en-US" sz="2000" dirty="0"/>
          </a:p>
        </p:txBody>
      </p:sp>
      <p:pic>
        <p:nvPicPr>
          <p:cNvPr id="16" name="Picture 15">
            <a:extLst>
              <a:ext uri="{FF2B5EF4-FFF2-40B4-BE49-F238E27FC236}">
                <a16:creationId xmlns:a16="http://schemas.microsoft.com/office/drawing/2014/main" id="{608C826A-B1B1-0D28-A978-609519901290}"/>
              </a:ext>
            </a:extLst>
          </p:cNvPr>
          <p:cNvPicPr>
            <a:picLocks noChangeAspect="1"/>
          </p:cNvPicPr>
          <p:nvPr/>
        </p:nvPicPr>
        <p:blipFill>
          <a:blip r:embed="rId3">
            <a:duotone>
              <a:prstClr val="black"/>
              <a:srgbClr val="FFFFFF">
                <a:tint val="45000"/>
                <a:satMod val="400000"/>
              </a:srgbClr>
            </a:duotone>
          </a:blip>
          <a:stretch>
            <a:fillRect/>
          </a:stretch>
        </p:blipFill>
        <p:spPr>
          <a:xfrm>
            <a:off x="1524" y="6000857"/>
            <a:ext cx="857143" cy="85714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0"/>
          <p:cNvSpPr txBox="1"/>
          <p:nvPr/>
        </p:nvSpPr>
        <p:spPr>
          <a:xfrm>
            <a:off x="1524003" y="1999615"/>
            <a:ext cx="9144000" cy="2764028"/>
          </a:xfrm>
          <a:prstGeom prst="rect">
            <a:avLst/>
          </a:prstGeom>
        </p:spPr>
        <p:txBody>
          <a:bodyPr vert="horz" lIns="91440" tIns="45720" rIns="91440" bIns="45720" rtlCol="0" anchor="ctr">
            <a:normAutofit/>
          </a:bodyPr>
          <a:lstStyle/>
          <a:p>
            <a:pPr marL="0" indent="0" algn="ctr">
              <a:lnSpc>
                <a:spcPct val="90000"/>
              </a:lnSpc>
              <a:spcBef>
                <a:spcPct val="0"/>
              </a:spcBef>
              <a:spcAft>
                <a:spcPts val="600"/>
              </a:spcAft>
            </a:pPr>
            <a:r>
              <a:rPr lang="en-US" sz="7200" b="1" kern="1200">
                <a:solidFill>
                  <a:schemeClr val="tx1"/>
                </a:solidFill>
                <a:latin typeface="+mj-lt"/>
                <a:ea typeface="+mj-ea"/>
                <a:cs typeface="+mj-cs"/>
              </a:rPr>
              <a:t>Thank You</a:t>
            </a:r>
            <a:endParaRPr lang="en-US" sz="7200" kern="1200">
              <a:solidFill>
                <a:schemeClr val="tx1"/>
              </a:solidFill>
              <a:latin typeface="+mj-lt"/>
              <a:ea typeface="+mj-ea"/>
              <a:cs typeface="+mj-cs"/>
            </a:endParaRPr>
          </a:p>
        </p:txBody>
      </p:sp>
      <p:pic>
        <p:nvPicPr>
          <p:cNvPr id="11" name="Picture 10">
            <a:extLst>
              <a:ext uri="{FF2B5EF4-FFF2-40B4-BE49-F238E27FC236}">
                <a16:creationId xmlns:a16="http://schemas.microsoft.com/office/drawing/2014/main" id="{D9DF689C-86AA-281D-55FA-D94BECE24474}"/>
              </a:ext>
            </a:extLst>
          </p:cNvPr>
          <p:cNvPicPr>
            <a:picLocks noChangeAspect="1"/>
          </p:cNvPicPr>
          <p:nvPr/>
        </p:nvPicPr>
        <p:blipFill>
          <a:blip r:embed="rId3"/>
          <a:stretch>
            <a:fillRect/>
          </a:stretch>
        </p:blipFill>
        <p:spPr>
          <a:xfrm>
            <a:off x="762000" y="5789348"/>
            <a:ext cx="857143" cy="857143"/>
          </a:xfrm>
          <a:prstGeom prst="rect">
            <a:avLst/>
          </a:prstGeom>
        </p:spPr>
      </p:pic>
    </p:spTree>
  </p:cSld>
  <p:clrMapOvr>
    <a:masterClrMapping/>
  </p:clrMapOvr>
</p:sld>
</file>

<file path=ppt/theme/theme1.xml><?xml version="1.0" encoding="utf-8"?>
<a:theme xmlns:a="http://schemas.openxmlformats.org/drawingml/2006/main" name="Bjorn">
  <a:themeElements>
    <a:clrScheme name="Bjorn">
      <a:dk1>
        <a:srgbClr val="000000"/>
      </a:dk1>
      <a:lt1>
        <a:srgbClr val="FFFFFF"/>
      </a:lt1>
      <a:dk2>
        <a:srgbClr val="003474"/>
      </a:dk2>
      <a:lt2>
        <a:srgbClr val="EFE6EB"/>
      </a:lt2>
      <a:accent1>
        <a:srgbClr val="28AE70"/>
      </a:accent1>
      <a:accent2>
        <a:srgbClr val="AC9E0C"/>
      </a:accent2>
      <a:accent3>
        <a:srgbClr val="EF3475"/>
      </a:accent3>
      <a:accent4>
        <a:srgbClr val="8961F3"/>
      </a:accent4>
      <a:accent5>
        <a:srgbClr val="11ADD3"/>
      </a:accent5>
      <a:accent6>
        <a:srgbClr val="E78813"/>
      </a:accent6>
      <a:hlink>
        <a:srgbClr val="CD45C3"/>
      </a:hlink>
      <a:folHlink>
        <a:srgbClr val="E34E4E"/>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 id="{121AC9A9-9DF1-410F-980B-228D05632962}" vid="{661A2AC3-DE07-4883-A618-4B52B678F5E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Bjorn</Template>
  <TotalTime>0</TotalTime>
  <Words>1129</Words>
  <Application>Microsoft Office PowerPoint</Application>
  <PresentationFormat>Widescreen</PresentationFormat>
  <Paragraphs>159</Paragraphs>
  <Slides>10</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Cambria</vt:lpstr>
      <vt:lpstr>Neue Haas Grotesk Text Pro</vt:lpstr>
      <vt:lpstr>System Font Regular</vt:lpstr>
      <vt:lpstr>Bjorn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Sifat, N.K. (Nashid, Student M-SE)</cp:lastModifiedBy>
  <cp:revision>5</cp:revision>
  <dcterms:created xsi:type="dcterms:W3CDTF">2026-09-24T22:45:42Z</dcterms:created>
  <dcterms:modified xsi:type="dcterms:W3CDTF">2026-09-25T14:32:31Z</dcterms:modified>
</cp:coreProperties>
</file>